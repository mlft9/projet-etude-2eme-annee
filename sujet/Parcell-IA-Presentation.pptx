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CAF7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7132320" y="274320"/>
            <a:ext cx="1645920" cy="1645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5029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4CAF78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Bachelor 2 — SupDeVinci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Parcell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2788920" y="10058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4CAF78"/>
                </a:solidFill>
              </a:rPr>
              <a:t>-IA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365760" y="21488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7D9B8"/>
                </a:solidFill>
              </a:rPr>
              <a:t>Diagnostic agricole intelligent par vision IA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65760" y="2788920"/>
            <a:ext cx="4114800" cy="36576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2926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D9B8"/>
                </a:solidFill>
              </a:rPr>
              <a:t>Maxime · Jean-Marc · Antoine L · Rémi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65760" y="347472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D5C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3872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78"/>
                </a:solidFill>
              </a:rPr>
              <a:t>IA &amp; Agriculture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8F6F"/>
                </a:solidFill>
              </a:rPr>
              <a:t>2025 /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Contexte &amp; Problématique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7A4B"/>
                </a:solidFill>
              </a:rPr>
              <a:t>Comment l'IA peut-elle répondre aux enjeux agricoles contemporains 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743200" cy="658368"/>
          </a:xfrm>
          <a:prstGeom prst="rect">
            <a:avLst/>
          </a:prstGeom>
          <a:solidFill>
            <a:srgbClr val="2C7A4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0876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4173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 défi agricole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214884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Les agriculteurs font face à des maladies des cultures difficiles à détecter tôt, entraînant des pertes importantes de rendement et une utilisation excessive de pesticides.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417320"/>
            <a:ext cx="27432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417320"/>
            <a:ext cx="2743200" cy="658368"/>
          </a:xfrm>
          <a:prstGeom prst="rect">
            <a:avLst/>
          </a:prstGeom>
          <a:solidFill>
            <a:srgbClr val="2C7A4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0876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4173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L'opportunité IA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83280" y="214884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La vision par ordinateur (GPT-4o Vision) permet d'analyser une simple photo de plante pour détecter maladies et parasites avec un niveau de précision élevé.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1417320"/>
            <a:ext cx="27432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417320"/>
            <a:ext cx="2743200" cy="658368"/>
          </a:xfrm>
          <a:prstGeom prst="rect">
            <a:avLst/>
          </a:prstGeom>
          <a:solidFill>
            <a:srgbClr val="2C7A4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4173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 réponse mobile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55080" y="214884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Une application mobile accessible partout sur le terrain permet à chaque agriculteur d'obtenir un diagnostic instantané avec conseil agronomique adapté.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Contexte : Chambre d'Agriculture — Projet B2 SupDeVinci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Notre Solution — Parcell-IA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6908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960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9144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Application mobile de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diagnostic agricole par IA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3566160" cy="36576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0116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D9B8"/>
                </a:solidFill>
              </a:rPr>
              <a:t>📸  Agriculteur prend en photo une plante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4871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D9B8"/>
                </a:solidFill>
              </a:rPr>
              <a:t>🤖  GPT-4o Vision analyse l'image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9626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D9B8"/>
                </a:solidFill>
              </a:rPr>
              <a:t>🦠  Détection de la maladie identifiée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43814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D9B8"/>
                </a:solidFill>
              </a:rPr>
              <a:t>⚠️  Niveau de risque évalué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9136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D9B8"/>
                </a:solidFill>
              </a:rPr>
              <a:t>💡  Conseil agronomique personnalisé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26280" y="822960"/>
            <a:ext cx="21488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6280" y="822960"/>
            <a:ext cx="2148840" cy="548640"/>
          </a:xfrm>
          <a:prstGeom prst="rect">
            <a:avLst/>
          </a:prstGeom>
          <a:solidFill>
            <a:srgbClr val="2C7A4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89611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29200" y="822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Diagnostic IA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17720" y="1444752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Photo → analyse GPT-4o Vision → maladie + risque + conseil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830568" y="822960"/>
            <a:ext cx="21488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30568" y="822960"/>
            <a:ext cx="2148840" cy="54864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89611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33488" y="822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Carte des parcelles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922008" y="1444752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Localisation géographique des parcelles avec carte Leaflet interactive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26280" y="2926080"/>
            <a:ext cx="21488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26280" y="2926080"/>
            <a:ext cx="2148840" cy="548640"/>
          </a:xfrm>
          <a:prstGeom prst="rect">
            <a:avLst/>
          </a:prstGeom>
          <a:solidFill>
            <a:srgbClr val="6A1B9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99923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29200" y="2926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Tableau de bord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617720" y="3547872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Vue synthétique des diagnostics, historique et alertes personnalisées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830568" y="2926080"/>
            <a:ext cx="21488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830568" y="2926080"/>
            <a:ext cx="2148840" cy="548640"/>
          </a:xfrm>
          <a:prstGeom prst="rect">
            <a:avLst/>
          </a:prstGeom>
          <a:solidFill>
            <a:srgbClr val="B71C1C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2999232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33488" y="2926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 sécurisée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922008" y="3547872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Connexion JWT — accès protégé à toutes les routes API (login, MVP)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Choix Technologiques &amp; Justification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713232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950976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8595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Mobile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11521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React Native (Expo)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383280" y="89611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Cross-platform iOS/Android, hot-reload, accès caméra natif, grande communauté.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1645920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645920"/>
            <a:ext cx="73152" cy="713232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773936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16824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Backend / API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60120" y="19751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Node.js + Express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83280" y="171907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Performance asynchrone, architecture modulaire MVC, middleware JWT, leger à déployer.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" y="2468880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2468880"/>
            <a:ext cx="73152" cy="713232"/>
          </a:xfrm>
          <a:prstGeom prst="rect">
            <a:avLst/>
          </a:prstGeom>
          <a:solidFill>
            <a:srgbClr val="4A148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596896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25054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Base de données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60120" y="27980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48C"/>
                </a:solidFill>
              </a:rPr>
              <a:t>PostgreSQL 16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383280" y="254203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SGBD relationnel robuste, géométries stockées en JSONB, migrations Sequelize, compatible Azure.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274320" y="3291840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4320" y="3291840"/>
            <a:ext cx="73152" cy="713232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419856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0120" y="33284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Infrastructure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60120" y="36210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7BD"/>
                </a:solidFill>
              </a:rPr>
              <a:t>Docker + Azure Container Apps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383280" y="336499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Containerisation reproductible, déploiement Azure Container Apps, script deploy-azure.sh.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274320" y="4114800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74320" y="4114800"/>
            <a:ext cx="73152" cy="713232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242816"/>
            <a:ext cx="420624" cy="42062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0120" y="41513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IA / Vision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960120" y="44439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Azure OpenAI GPT-4o Vision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383280" y="418795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Modèle multimodal state-of-the-art, API JSON structurée, fallback OpenAI direct + mock.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Technique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0" y="82296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143D2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0" y="822960"/>
            <a:ext cx="2194560" cy="36576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144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Docker / Azure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Container Apps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92024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143D2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920240"/>
            <a:ext cx="2194560" cy="36576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116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 Mobile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(React Native)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474720" y="192024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143D2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74720" y="1920240"/>
            <a:ext cx="2194560" cy="36576"/>
          </a:xfrm>
          <a:prstGeom prst="rect">
            <a:avLst/>
          </a:prstGeom>
          <a:solidFill>
            <a:srgbClr val="2C7A4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0116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47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Backend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(Node.js)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675120" y="192024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143D2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675120" y="1920240"/>
            <a:ext cx="2194560" cy="36576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01168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751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Azure OpenAI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GPT-4o Vision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474720" y="320040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143D2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474720" y="3200400"/>
            <a:ext cx="2194560" cy="36576"/>
          </a:xfrm>
          <a:prstGeom prst="rect">
            <a:avLst/>
          </a:prstGeom>
          <a:solidFill>
            <a:srgbClr val="4A148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29184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47472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(Azure DB)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572000" y="1920240"/>
            <a:ext cx="0" cy="0"/>
          </a:xfrm>
          <a:prstGeom prst="line">
            <a:avLst/>
          </a:prstGeom>
          <a:noFill/>
          <a:ln w="19050">
            <a:solidFill>
              <a:srgbClr val="4CAF78"/>
            </a:solidFill>
            <a:prstDash val="sysDash"/>
          </a:ln>
        </p:spPr>
      </p:sp>
      <p:sp>
        <p:nvSpPr>
          <p:cNvPr id="25" name="Shape 18"/>
          <p:cNvSpPr/>
          <p:nvPr/>
        </p:nvSpPr>
        <p:spPr>
          <a:xfrm>
            <a:off x="4572000" y="1901952"/>
            <a:ext cx="0" cy="36576"/>
          </a:xfrm>
          <a:prstGeom prst="line">
            <a:avLst/>
          </a:prstGeom>
          <a:noFill/>
          <a:ln w="25400">
            <a:solidFill>
              <a:srgbClr val="4CAF7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2468880" y="2441448"/>
            <a:ext cx="1005840" cy="0"/>
          </a:xfrm>
          <a:prstGeom prst="line">
            <a:avLst/>
          </a:prstGeom>
          <a:noFill/>
          <a:ln w="25400">
            <a:solidFill>
              <a:srgbClr val="4CAF78"/>
            </a:solidFill>
            <a:prstDash val="sysDash"/>
          </a:ln>
        </p:spPr>
      </p:sp>
      <p:sp>
        <p:nvSpPr>
          <p:cNvPr id="27" name="Text 20"/>
          <p:cNvSpPr/>
          <p:nvPr/>
        </p:nvSpPr>
        <p:spPr>
          <a:xfrm>
            <a:off x="2468880" y="22585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AF78"/>
                </a:solidFill>
              </a:rPr>
              <a:t>HTTPS/JWT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5669280" y="2441448"/>
            <a:ext cx="1005840" cy="0"/>
          </a:xfrm>
          <a:prstGeom prst="line">
            <a:avLst/>
          </a:prstGeom>
          <a:noFill/>
          <a:ln w="25400">
            <a:solidFill>
              <a:srgbClr val="4CAF78"/>
            </a:solidFill>
            <a:prstDash val="sysDash"/>
          </a:ln>
        </p:spPr>
      </p:sp>
      <p:sp>
        <p:nvSpPr>
          <p:cNvPr id="29" name="Text 22"/>
          <p:cNvSpPr/>
          <p:nvPr/>
        </p:nvSpPr>
        <p:spPr>
          <a:xfrm>
            <a:off x="5669280" y="22585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AF78"/>
                </a:solidFill>
              </a:rPr>
              <a:t>REST API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572000" y="2999232"/>
            <a:ext cx="0" cy="201168"/>
          </a:xfrm>
          <a:prstGeom prst="line">
            <a:avLst/>
          </a:prstGeom>
          <a:noFill/>
          <a:ln w="25400">
            <a:solidFill>
              <a:srgbClr val="4CAF78"/>
            </a:solidFill>
            <a:prstDash val="sysDash"/>
          </a:ln>
        </p:spPr>
      </p:sp>
      <p:sp>
        <p:nvSpPr>
          <p:cNvPr id="31" name="Text 24"/>
          <p:cNvSpPr/>
          <p:nvPr/>
        </p:nvSpPr>
        <p:spPr>
          <a:xfrm>
            <a:off x="4645152" y="3035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AF78"/>
                </a:solidFill>
              </a:rPr>
              <a:t>SQL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33" name="Text 2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9B8"/>
                </a:solidFill>
              </a:rPr>
              <a:t>JWT auth sur toutes les routes  ·  Fallback IA : OpenAI direct → mock  ·  SSL activé sur Azure PostgreSQL  ·  84 commits — dépôt public GitHub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Démonstration Technique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206240" cy="50292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Endpoints API (Node.js + Express)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453896"/>
            <a:ext cx="685800" cy="329184"/>
          </a:xfrm>
          <a:prstGeom prst="roundRect">
            <a:avLst>
              <a:gd name="adj" fmla="val 13889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45389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" y="14538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4538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Connexion utilisateur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929384"/>
            <a:ext cx="685800" cy="329184"/>
          </a:xfrm>
          <a:prstGeom prst="roundRect">
            <a:avLst>
              <a:gd name="adj" fmla="val 13889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92938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15568" y="192938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/auth/register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19293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Inscription utilisateur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404872"/>
            <a:ext cx="685800" cy="329184"/>
          </a:xfrm>
          <a:prstGeom prst="roundRect">
            <a:avLst>
              <a:gd name="adj" fmla="val 13889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40487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" y="24048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/parcelles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4048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Liste des parcelles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2880360"/>
            <a:ext cx="685800" cy="329184"/>
          </a:xfrm>
          <a:prstGeom prst="roundRect">
            <a:avLst>
              <a:gd name="adj" fmla="val 13889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288036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" y="28803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/parcelles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2880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Créer une parcelle + géométrie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3355848"/>
            <a:ext cx="685800" cy="329184"/>
          </a:xfrm>
          <a:prstGeom prst="roundRect">
            <a:avLst>
              <a:gd name="adj" fmla="val 13889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35584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5568" y="33558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/diagnostics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33558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Historique des diagnostics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" y="3831336"/>
            <a:ext cx="685800" cy="329184"/>
          </a:xfrm>
          <a:prstGeom prst="roundRect">
            <a:avLst>
              <a:gd name="adj" fmla="val 13889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383133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" y="38313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/diagnostics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38313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Lancer diagnostic IA (image_base64)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4048" y="4306824"/>
            <a:ext cx="685800" cy="329184"/>
          </a:xfrm>
          <a:prstGeom prst="roundRect">
            <a:avLst>
              <a:gd name="adj" fmla="val 13889"/>
            </a:avLst>
          </a:prstGeom>
          <a:solidFill>
            <a:srgbClr val="6B7280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" y="430682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15568" y="43068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0" y="43068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Santé du serveur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822960"/>
            <a:ext cx="420624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822960"/>
            <a:ext cx="4206240" cy="502920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822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Flux Diagnostic IA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54880" y="1499616"/>
            <a:ext cx="329184" cy="329184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66360" y="14813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L'app encode la photo en base64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10328" y="1828800"/>
            <a:ext cx="0" cy="164592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2048256"/>
            <a:ext cx="329184" cy="329184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66360" y="20299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POST /diagnostics avec image + parcelle_id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910328" y="2377440"/>
            <a:ext cx="0" cy="164592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2596896"/>
            <a:ext cx="329184" cy="329184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47" name="Text 45"/>
          <p:cNvSpPr/>
          <p:nvPr/>
        </p:nvSpPr>
        <p:spPr>
          <a:xfrm>
            <a:off x="475488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66360" y="2578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Backend valide le JWT, crée le diagnostic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910328" y="2926080"/>
            <a:ext cx="0" cy="164592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3145536"/>
            <a:ext cx="329184" cy="329184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51" name="Text 49"/>
          <p:cNvSpPr/>
          <p:nvPr/>
        </p:nvSpPr>
        <p:spPr>
          <a:xfrm>
            <a:off x="4754880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66360" y="31272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Azure OpenAI GPT-4o Vision analyse l'image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910328" y="3474720"/>
            <a:ext cx="0" cy="164592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3694176"/>
            <a:ext cx="329184" cy="329184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55" name="Text 53"/>
          <p:cNvSpPr/>
          <p:nvPr/>
        </p:nvSpPr>
        <p:spPr>
          <a:xfrm>
            <a:off x="4754880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166360" y="36758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Réponse JSON: maladie + risque + conseil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910328" y="4023360"/>
            <a:ext cx="0" cy="164592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0" y="4242816"/>
            <a:ext cx="329184" cy="329184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59" name="Text 57"/>
          <p:cNvSpPr/>
          <p:nvPr/>
        </p:nvSpPr>
        <p:spPr>
          <a:xfrm>
            <a:off x="4754880" y="4242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166360" y="42245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Résultat sauvegardé en BDD et affiché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7"><p:bg><p:bgPr><a:solidFill><a:srgbClr val="F9FAFB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9144000" cy="685800"/></a:xfrm><a:prstGeom prst="rect"><a:avLst></a:avLst></a:prstGeom><a:solidFill><a:srgbClr val="1A4731"/></a:solidFill><a:ln></a:ln></p:spPr></p:sp><p:sp><p:nvSpPr><p:cNvPr id="3" name="Text 1"></p:cNvPr><p:cNvSpPr/><p:nvPr></p:nvPr></p:nvSpPr><p:spPr><a:xfrm><a:off x="365760" y="0"/><a:ext cx="8229600" cy="68580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2200" b="1" dirty="0"><a:solidFill><a:srgbClr val="FFFFFF"/></a:solidFill></a:rPr><a:t>Déploiement Cloud &amp; Infrastructure</a:t></a:r><a:endParaRPr lang="en-US" sz="2200" dirty="0"/></a:p></p:txBody></p:sp><p:sp><p:nvSpPr><p:cNvPr id="4" name="Shape 2"></p:cNvPr><p:cNvSpPr/><p:nvPr></p:nvPr></p:nvSpPr><p:spPr><a:xfrm><a:off x="274320" y="822960"/><a:ext cx="5120640" cy="4069080"/></a:xfrm><a:prstGeom prst="rect"><a:avLst></a:avLst></a:prstGeom><a:solidFill><a:srgbClr val="FFFFFF"/></a:solidFill><a:ln></a:ln><a:effectLst> <a:outerShdw sx="100000" sy="100000" kx="0" ky="0" algn="bl" rotWithShape="0" blurRad="101600" dist="38100" dir="8100000"> <a:srgbClr val="000000"> <a:alpha val="12000"/></a:srgbClr> </a:outerShdw></a:effectLst></p:spPr></p:sp><p:sp><p:nvSpPr><p:cNvPr id="5" name="Shape 3"></p:cNvPr><p:cNvSpPr/><p:nvPr></p:nvPr></p:nvSpPr><p:spPr><a:xfrm><a:off x="274320" y="822960"/><a:ext cx="5120640" cy="502920"/></a:xfrm><a:prstGeom prst="rect"><a:avLst></a:avLst></a:prstGeom><a:solidFill><a:srgbClr val="0277BD"/></a:solidFill><a:ln></a:ln></p:spPr></p:sp><p:pic>  <p:nvPicPr><p:cNvPr id="6" name="Image 0" descr="preencoded.png">    </p:cNvPr>    <p:cNvPicPr><a:picLocks noChangeAspect="1"/></p:cNvPicPr>    <p:nvPr></p:nvPr>  </p:nvPicPr><p:blipFill><a:blip r:embed="rId1"></a:blip>  <a:stretch><a:fillRect/></a:stretch></p:blipFill><p:spPr> <a:xfrm>  <a:off x="365760" y="886968"/>  <a:ext cx="347472" cy="347472"/> </a:xfrm> <a:prstGeom prst="rect"><a:avLst/></a:prstGeom></p:spPr></p:pic><p:sp><p:nvSpPr><p:cNvPr id="7" name="Text 4"></p:cNvPr><p:cNvSpPr/><p:nvPr></p:nvPr></p:nvSpPr><p:spPr><a:xfrm><a:off x="777240" y="822960"/><a:ext cx="4572000" cy="50292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300" b="1" dirty="0"><a:solidFill><a:srgbClr val="FFFFFF"/></a:solidFill></a:rPr><a:t>Docker Compose — Profils de déploiement</a:t></a:r><a:endParaRPr lang="en-US" sz="1300" dirty="0"/></a:p></p:txBody></p:sp><p:sp><p:nvSpPr><p:cNvPr id="8" name="Shape 5"></p:cNvPr><p:cNvSpPr/><p:nvPr></p:nvPr></p:nvSpPr><p:spPr><a:xfrm><a:off x="457200" y="1463040"/><a:ext cx="4754880" cy="548640"/></a:xfrm><a:prstGeom prst="rect"><a:avLst></a:avLst></a:prstGeom><a:solidFill><a:srgbClr val="F9FAFB"/></a:solidFill><a:ln></a:ln></p:spPr></p:sp><p:sp><p:nvSpPr><p:cNvPr id="9" name="Shape 6"></p:cNvPr><p:cNvSpPr/><p:nvPr></p:nvPr></p:nvSpPr><p:spPr><a:xfrm><a:off x="457200" y="1463040"/><a:ext cx="64008" cy="548640"/></a:xfrm><a:prstGeom prst="rect"><a:avLst></a:avLst></a:prstGeom><a:solidFill><a:srgbClr val="1B5E20"/></a:solidFill><a:ln></a:ln></p:spPr></p:sp><p:sp><p:nvSpPr><p:cNvPr id="10" name="Text 7"></p:cNvPr><p:cNvSpPr/><p:nvPr></p:nvPr></p:nvSpPr><p:spPr><a:xfrm><a:off x="594360" y="1481328"/><a:ext cx="3200400" cy="256032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100" b="1" dirty="0"><a:solidFill><a:srgbClr val="1B5E20"/></a:solidFill><a:latin typeface="Consolas" pitchFamily="34" charset="0"/><a:ea typeface="Consolas" pitchFamily="34" charset="-122"/><a:cs typeface="Consolas" pitchFamily="34" charset="-120"/></a:rPr><a:t>DATABASE_URL=&lt;azure_url&gt; docker compose up</a:t></a:r><a:endParaRPr lang="en-US" sz="1200" dirty="0"/></a:p></p:txBody></p:sp> via DATABASE_URL</a:t></a:r><a:endParaRPr lang="en-US" sz="1100" dirty="0"/></a:p></p:txBody></p:sp><p:sp><p:nvSpPr><p:cNvPr id="16" name="Shape 13"></p:cNvPr><p:cNvSpPr/><p:nvPr></p:nvPr></p:nvSpPr><p:spPr><a:xfrm><a:off x="457200" y="2834640"/><a:ext cx="4754880" cy="548640"/></a:xfrm><a:prstGeom prst="rect"><a:avLst></a:avLst></a:prstGeom><a:solidFill><a:srgbClr val="F9FAFB"/></a:solidFill><a:ln></a:ln></p:spPr></p:sp><p:sp><p:nvSpPr><p:cNvPr id="17" name="Shape 14"></p:cNvPr><p:cNvSpPr/><p:nvPr></p:nvPr></p:nvSpPr><p:spPr><a:xfrm><a:off x="457200" y="2834640"/><a:ext cx="64008" cy="548640"/></a:xfrm><a:prstGeom prst="rect"><a:avLst></a:avLst></a:prstGeom><a:solidFill><a:srgbClr val="E65100"/></a:solidFill><a:ln></a:ln></p:spPr></p:sp><p:sp><p:nvSpPr><p:cNvPr id="18" name="Text 15"></p:cNvPr><p:cNvSpPr/><p:nvPr></p:nvPr></p:nvSpPr><p:spPr><a:xfrm><a:off x="594360" y="2852928"/><a:ext cx="3200400" cy="256032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100" b="1" dirty="0"><a:solidFill><a:srgbClr val="E65100"/></a:solidFill><a:latin typeface="Consolas" pitchFamily="34" charset="0"/><a:ea typeface="Consolas" pitchFamily="34" charset="-122"/><a:cs typeface="Consolas" pitchFamily="34" charset="-120"/></a:rPr><a:t>--profile mobile</a:t></a:r><a:endParaRPr lang="en-US" sz="1100" dirty="0"/></a:p></p:txBody></p:sp><p:sp><p:nvSpPr><p:cNvPr id="19" name="Text 16"></p:cNvPr><p:cNvSpPr/><p:nvPr></p:nvPr></p:nvSpPr><p:spPr><a:xfrm><a:off x="594360" y="3108960"/><a:ext cx="4572000" cy="256032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100" dirty="0"><a:solidFill><a:srgbClr val="6B7280"/></a:solidFill></a:rPr><a:t>App Expo en mode web (port 8081)</a:t></a:r><a:endParaRPr lang="en-US" sz="1100" dirty="0"/></a:p></p:txBody></p:sp><p:sp><p:nvSpPr><p:cNvPr id="20" name="Text 17"></p:cNvPr><p:cNvSpPr/><p:nvPr></p:nvPr></p:nvSpPr><p:spPr><a:xfrm><a:off x="457200" y="3611880"/><a:ext cx="4663440" cy="32004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300" b="1" dirty="0"><a:solidFill><a:srgbClr val="1A4731"/></a:solidFill></a:rPr><a:t>Variables d&apos;environnement requises</a:t></a:r><a:endParaRPr lang="en-US" sz="1300" dirty="0"/></a:p></p:txBody></p:sp><p:pic>  <p:nvPicPr><p:cNvPr id="21" name="Image 1" descr="preencoded.png">    </p:cNvPr>    <p:cNvPicPr><a:picLocks noChangeAspect="1"/></p:cNvPicPr>    <p:nvPr></p:nvPr>  </p:nvPicPr><p:blipFill><a:blip r:embed="rId2"></a:blip>  <a:stretch><a:fillRect/></a:stretch></p:blipFill><p:spPr> <a:xfrm>  <a:off x="457200" y="3977640"/>  <a:ext cx="201168" cy="201168"/> </a:xfrm> <a:prstGeom prst="rect"><a:avLst/></a:prstGeom></p:spPr></p:pic><p:sp><p:nvSpPr><p:cNvPr id="22" name="Text 18"></p:cNvPr><p:cNvSpPr/><p:nvPr></p:nvPr></p:nvSpPr><p:spPr><a:xfrm><a:off x="713232" y="3931920"/><a:ext cx="4389120" cy="27432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6B7280"/></a:solidFill></a:rPr><a:t>DATABASE_URL  — Azure PostgreSQL</a:t></a:r><a:endParaRPr lang="en-US" sz="1000" dirty="0"/></a:p></p:txBody></p:sp><p:pic>  <p:nvPicPr><p:cNvPr id="23" name="Image 2" descr="preencoded.png">    </p:cNvPr>    <p:cNvPicPr><a:picLocks noChangeAspect="1"/></p:cNvPicPr>    <p:nvPr></p:nvPr>  </p:nvPicPr><p:blipFill><a:blip r:embed="rId3"></a:blip>  <a:stretch><a:fillRect/></a:stretch></p:blipFill><p:spPr> <a:xfrm>  <a:off x="457200" y="3986784"/>  <a:ext cx="201168" cy="201168"/> </a:xfrm> <a:prstGeom prst="rect"><a:avLst/></a:prstGeom></p:spPr></p:pic><p:sp><p:nvSpPr><p:cNvPr id="24" name="Text 19"></p:cNvPr><p:cNvSpPr/><p:nvPr></p:nvPr></p:nvSpPr><p:spPr><a:xfrm><a:off x="713232" y="3931920"/><a:ext cx="4389120" cy="27432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6B7280"/></a:solidFill></a:rPr><a:t>AZURE_OPENAI_KEY  — Clé Azure OpenAI</a:t></a:r><a:endParaRPr lang="en-US" sz="1000" dirty="0"/></a:p></p:txBody></p:sp><p:pic>  <p:nvPicPr><p:cNvPr id="25" name="Image 3" descr="preencoded.png">    </p:cNvPr>    <p:cNvPicPr><a:picLocks noChangeAspect="1"/></p:cNvPicPr>    <p:nvPr></p:nvPr>  </p:nvPicPr><p:blipFill><a:blip r:embed="rId4"></a:blip>  <a:stretch><a:fillRect/></a:stretch></p:blipFill><p:spPr> <a:xfrm>  <a:off x="457200" y="3995928"/>  <a:ext cx="201168" cy="201168"/> </a:xfrm> <a:prstGeom prst="rect"><a:avLst/></a:prstGeom></p:spPr></p:pic><p:sp><p:nvSpPr><p:cNvPr id="26" name="Text 20"></p:cNvPr><p:cNvSpPr/><p:nvPr></p:nvPr></p:nvSpPr><p:spPr><a:xfrm><a:off x="713232" y="3931920"/><a:ext cx="4389120" cy="27432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6B7280"/></a:solidFill></a:rPr><a:t>JWT_SECRET  — Signature tokens</a:t></a:r><a:endParaRPr lang="en-US" sz="1000" dirty="0"/></a:p></p:txBody></p:sp><p:pic>  <p:nvPicPr><p:cNvPr id="27" name="Image 4" descr="preencoded.png">    </p:cNvPr>    <p:cNvPicPr><a:picLocks noChangeAspect="1"/></p:cNvPicPr>    <p:nvPr></p:nvPr>  </p:nvPicPr><p:blipFill><a:blip r:embed="rId5"></a:blip>  <a:stretch><a:fillRect/></a:stretch></p:blipFill><p:spPr> <a:xfrm>  <a:off x="457200" y="4005072"/>  <a:ext cx="201168" cy="201168"/> </a:xfrm> <a:prstGeom prst="rect"><a:avLst/></a:prstGeom></p:spPr></p:pic><p:sp><p:nvSpPr><p:cNvPr id="28" name="Text 21"></p:cNvPr><p:cNvSpPr/><p:nvPr></p:nvPr></p:nvSpPr><p:spPr><a:xfrm><a:off x="713232" y="3931920"/><a:ext cx="4389120" cy="27432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6B7280"/></a:solidFill></a:rPr><a:t>OPENAI_API_KEY  — Fallback OpenAI</a:t></a:r><a:endParaRPr lang="en-US" sz="1000" dirty="0"/></a:p></p:txBody></p:sp><p:sp><p:nvSpPr><p:cNvPr id="29" name="Text 22"></p:cNvPr><p:cNvSpPr/><p:nvPr></p:nvPr></p:nvSpPr><p:spPr><a:xfrm><a:off x="457200" y="3977640"/><a:ext cx="2194560" cy="86868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b="1" dirty="0"><a:solidFill><a:srgbClr val="1A4731"/></a:solidFill></a:rPr><a:t>DATABASE_URL</a:t></a:r><a:endParaRPr lang="en-US" sz="1000" dirty="0"/></a:p><a:p><a:pPr indent="0" marL="0"><a:buNone/></a:pPr><a:r><a:rPr lang="en-US" sz="1000" b="1" dirty="0"><a:solidFill><a:srgbClr val="1A4731"/></a:solidFill></a:rPr><a:t>AZURE_OPENAI_KEY + AZURE_OPENAI_ENDPOINT</a:t></a:r><a:endParaRPr lang="en-US" sz="1000" dirty="0"/></a:p><a:p><a:pPr indent="0" marL="0"><a:buNone/></a:pPr><a:r><a:rPr lang="en-US" sz="1000" b="1" dirty="0"><a:solidFill><a:srgbClr val="1A4731"/></a:solidFill></a:rPr><a:t>JWT_SECRET</a:t></a:r><a:endParaRPr lang="en-US" sz="1000" dirty="0"/></a:p><a:p><a:pPr indent="0" marL="0"><a:buNone/></a:pPr><a:r><a:rPr lang="en-US" sz="1000" b="1" dirty="0"><a:solidFill><a:srgbClr val="1A4731"/></a:solidFill></a:rPr><a:t>OPENAI_API_KEY  (fallback)</a:t></a:r><a:endParaRPr lang="en-US" sz="1000" dirty="0"/></a:p></p:txBody></p:sp><p:sp><p:nvSpPr><p:cNvPr id="30" name="Text 23"></p:cNvPr><p:cNvSpPr/><p:nvPr></p:nvPr></p:nvSpPr><p:spPr><a:xfrm><a:off x="2743200" y="3977640"/><a:ext cx="2468880" cy="86868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6B7280"/></a:solidFill></a:rPr><a:t>URL PostgreSQL Azure</a:t></a:r><a:endParaRPr lang="en-US" sz="1000" dirty="0"/></a:p><a:p><a:pPr indent="0" marL="0"><a:buNone/></a:pPr><a:r><a:rPr lang="en-US" sz="1000" dirty="0"><a:solidFill><a:srgbClr val="6B7280"/></a:solidFill></a:rPr><a:t>Clé Azure OpenAI</a:t></a:r><a:endParaRPr lang="en-US" sz="1000" dirty="0"/></a:p><a:p><a:pPr indent="0" marL="0"><a:buNone/></a:pPr><a:r><a:rPr lang="en-US" sz="1000" dirty="0"><a:solidFill><a:srgbClr val="6B7280"/></a:solidFill></a:rPr><a:t>Signature JWT tokens</a:t></a:r><a:endParaRPr lang="en-US" sz="1000" dirty="0"/></a:p><a:p><a:pPr indent="0" marL="0"><a:buNone/></a:pPr><a:r><a:rPr lang="en-US" sz="1000" dirty="0"><a:solidFill><a:srgbClr val="6B7280"/></a:solidFill></a:rPr><a:t>Clé OpenAI directe</a:t></a:r><a:endParaRPr lang="en-US" sz="1000" dirty="0"/></a:p></p:txBody></p:sp><p:sp><p:nvSpPr><p:cNvPr id="31" name="Shape 24"></p:cNvPr><p:cNvSpPr/><p:nvPr></p:nvPr></p:nvSpPr><p:spPr><a:xfrm><a:off x="5577840" y="822960"/><a:ext cx="3291840" cy="4069080"/></a:xfrm><a:prstGeom prst="rect"><a:avLst></a:avLst></a:prstGeom><a:solidFill><a:srgbClr val="E3F2FD"/></a:solidFill><a:ln></a:ln><a:effectLst> <a:outerShdw sx="100000" sy="100000" kx="0" ky="0" algn="bl" rotWithShape="0" blurRad="101600" dist="38100" dir="8100000"> <a:srgbClr val="000000"> <a:alpha val="12000"/></a:srgbClr> </a:outerShdw></a:effectLst></p:spPr></p:sp><p:sp><p:nvSpPr><p:cNvPr id="32" name="Shape 25"></p:cNvPr><p:cNvSpPr/><p:nvPr></p:nvPr></p:nvSpPr><p:spPr><a:xfrm><a:off x="5577840" y="822960"/><a:ext cx="3291840" cy="502920"/></a:xfrm><a:prstGeom prst="rect"><a:avLst></a:avLst></a:prstGeom><a:solidFill><a:srgbClr val="01579B"/></a:solidFill><a:ln></a:ln></p:spPr></p:sp><p:sp><p:nvSpPr><p:cNvPr id="33" name="Text 26"></p:cNvPr><p:cNvSpPr/><p:nvPr></p:nvPr></p:nvSpPr><p:spPr><a:xfrm><a:off x="5669280" y="822960"/><a:ext cx="3108960" cy="50292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300" b="1" dirty="0"><a:solidFill><a:srgbClr val="FFFFFF"/></a:solidFill></a:rPr><a:t>Azure Stack</a:t></a:r><a:endParaRPr lang="en-US" sz="1300" dirty="0"/></a:p></p:txBody></p:sp><p:pic>  <p:nvPicPr><p:cNvPr id="34" name="Image 5" descr="preencoded.png">    </p:cNvPr>    <p:cNvPicPr><a:picLocks noChangeAspect="1"/></p:cNvPicPr>    <p:nvPr></p:nvPr>  </p:nvPicPr><p:blipFill><a:blip r:embed="rId6"></a:blip>  <a:stretch><a:fillRect/></a:stretch></p:blipFill><p:spPr> <a:xfrm>  <a:off x="5669280" y="1508760"/>  <a:ext cx="347472" cy="347472"/> </a:xfrm> <a:prstGeom prst="rect"><a:avLst/></a:prstGeom></p:spPr></p:pic><p:sp><p:nvSpPr><p:cNvPr id="35" name="Text 27"></p:cNvPr><p:cNvSpPr/><p:nvPr></p:nvPr></p:nvSpPr><p:spPr><a:xfrm><a:off x="6080760" y="1463040"/><a:ext cx="2651760" cy="27432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300" b="1" dirty="0"><a:solidFill><a:srgbClr val="01579B"/></a:solidFill></a:rPr><a:t>Container Apps</a:t></a:r><a:endParaRPr lang="en-US" sz="1300" dirty="0"/></a:p></p:txBody></p:sp><p:sp><p:nvSpPr><p:cNvPr id="36" name="Text 28"></p:cNvPr><p:cNvSpPr/><p:nvPr></p:nvPr></p:nvSpPr><p:spPr><a:xfrm><a:off x="6080760" y="1755648"/><a:ext cx="2651760" cy="32004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100" dirty="0"><a:solidFill><a:srgbClr val="6B7280"/></a:solidFill></a:rPr><a:t>Hébergement du backend Node.js</a:t></a:r><a:endParaRPr lang="en-US" sz="1100" dirty="0"/></a:p></p:txBody></p:sp><p:pic>  <p:nvPicPr><p:cNvPr id="37" name="Image 6" descr="preencoded.png">    </p:cNvPr>    <p:cNvPicPr><a:picLocks noChangeAspect="1"/></p:cNvPicPr>    <p:nvPr></p:nvPr>  </p:nvPicPr><p:blipFill><a:blip r:embed="rId7"></a:blip>  <a:stretch><a:fillRect/></a:stretch></p:blipFill><p:spPr> <a:xfrm>  <a:off x="5669280" y="2331720"/>  <a:ext cx="347472" cy="347472"/> </a:xfrm> <a:prstGeom prst="rect"><a:avLst/></a:prstGeom></p:spPr></p:pic><p:sp><p:nvSpPr><p:cNvPr id="38" name="Text 29"></p:cNvPr><p:cNvSpPr/><p:nvPr></p:nvPr></p:nvSpPr><p:spPr><a:xfrm><a:off x="6080760" y="2286000"/><a:ext cx="2651760" cy="27432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300" b="1" dirty="0"><a:solidFill><a:srgbClr val="01579B"/></a:solidFill></a:rPr><a:t>Azure PostgreSQL</a:t></a:r><a:endParaRPr lang="en-US" sz="1300" dirty="0"/></a:p></p:txBody></p:sp><p:sp><p:nvSpPr><p:cNvPr id="39" name="Text 30"></p:cNvPr><p:cNvSpPr/><p:nvPr></p:nvPr></p:nvSpPr><p:spPr><a:xfrm><a:off x="6080760" y="2578608"/><a:ext cx="2651760" cy="32004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100" dirty="0"><a:solidFill><a:srgbClr val="6B7280"/></a:solidFill></a:rPr><a:t>Base de données cloud sécurisée (SSL)</a:t></a:r><a:endParaRPr lang="en-US" sz="1100" dirty="0"/></a:p></p:txBody></p:sp><p:pic>  <p:nvPicPr><p:cNvPr id="40" name="Image 7" descr="preencoded.png">    </p:cNvPr>    <p:cNvPicPr><a:picLocks noChangeAspect="1"/></p:cNvPicPr>    <p:nvPr></p:nvPr>  </p:nvPicPr><p:blipFill><a:blip r:embed="rId8"></a:blip>  <a:stretch><a:fillRect/></a:stretch></p:blipFill><p:spPr> <a:xfrm>  <a:off x="5669280" y="3154680"/>  <a:ext cx="347472" cy="347472"/> </a:xfrm> <a:prstGeom prst="rect"><a:avLst/></a:prstGeom></p:spPr></p:pic><p:sp><p:nvSpPr><p:cNvPr id="41" name="Text 31"></p:cNvPr><p:cNvSpPr/><p:nvPr></p:nvPr></p:nvSpPr><p:spPr><a:xfrm><a:off x="6080760" y="3108960"/><a:ext cx="2651760" cy="27432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300" b="1" dirty="0"><a:solidFill><a:srgbClr val="01579B"/></a:solidFill></a:rPr><a:t>Azure OpenAI</a:t></a:r><a:endParaRPr lang="en-US" sz="1300" dirty="0"/></a:p></p:txBody></p:sp><p:sp><p:nvSpPr><p:cNvPr id="42" name="Text 32"></p:cNvPr><p:cNvSpPr/><p:nvPr></p:nvPr></p:nvSpPr><p:spPr><a:xfrm><a:off x="6080760" y="3401568"/><a:ext cx="2651760" cy="32004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100" dirty="0"><a:solidFill><a:srgbClr val="6B7280"/></a:solidFill></a:rPr><a:t>GPT-4o Vision déployé en instance dédiée</a:t></a:r><a:endParaRPr lang="en-US" sz="1100" dirty="0"/></a:p></p:txBody></p:sp><p:pic>  <p:nvPicPr><p:cNvPr id="43" name="Image 8" descr="preencoded.png">    </p:cNvPr>    <p:cNvPicPr><a:picLocks noChangeAspect="1"/></p:cNvPicPr>    <p:nvPr></p:nvPr>  </p:nvPicPr><p:blipFill><a:blip r:embed="rId9"></a:blip>  <a:stretch><a:fillRect/></a:stretch></p:blipFill><p:spPr> <a:xfrm>  <a:off x="5669280" y="3977640"/>  <a:ext cx="347472" cy="347472"/> </a:xfrm> <a:prstGeom prst="rect"><a:avLst/></a:prstGeom></p:spPr></p:pic><p:sp><p:nvSpPr><p:cNvPr id="44" name="Text 33"></p:cNvPr><p:cNvSpPr/><p:nvPr></p:nvPr></p:nvSpPr><p:spPr><a:xfrm><a:off x="6080760" y="3931920"/><a:ext cx="2651760" cy="27432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300" b="1" dirty="0"><a:solidFill><a:srgbClr val="01579B"/></a:solidFill></a:rPr><a:t>Azure VPN / SSL</a:t></a:r><a:endParaRPr lang="en-US" sz="1300" dirty="0"/></a:p></p:txBody></p:sp><p:sp><p:nvSpPr><p:cNvPr id="45" name="Text 34"></p:cNvPr><p:cNvSpPr/><p:nvPr></p:nvPr></p:nvSpPr><p:spPr><a:xfrm><a:off x="6080760" y="4224528"/><a:ext cx="2651760" cy="32004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100" dirty="0"><a:solidFill><a:srgbClr val="6B7280"/></a:solidFill></a:rPr><a:t>Accès sécurisé + certificats TLS</a:t></a:r><a:endParaRPr lang="en-US" sz="1100" dirty="0"/></a:p></p:txBody></p:sp></p:spTree></p:cSld><p:clrMapOvr><a:masterClrMapping/></p:clrMapOvr>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Gestion de Projet &amp; Organisation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206240" cy="475488"/>
          </a:xfrm>
          <a:prstGeom prst="rect">
            <a:avLst/>
          </a:prstGeom>
          <a:solidFill>
            <a:srgbClr val="1A473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8696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8229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Répartition des rôles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389888"/>
            <a:ext cx="274320" cy="274320"/>
          </a:xfrm>
          <a:prstGeom prst="ellipse">
            <a:avLst/>
          </a:prstGeom>
          <a:solidFill>
            <a:srgbClr val="4CAF78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Maxime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28800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Tech Lead Full-Stack + Intégration IA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1737360"/>
            <a:ext cx="274320" cy="274320"/>
          </a:xfrm>
          <a:prstGeom prst="ellipse">
            <a:avLst/>
          </a:prstGeom>
          <a:solidFill>
            <a:srgbClr val="4CAF78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Jean-Marc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82880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Backend Node.js + Déploiement Azure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084832"/>
            <a:ext cx="274320" cy="274320"/>
          </a:xfrm>
          <a:prstGeom prst="ellipse">
            <a:avLst/>
          </a:prstGeom>
          <a:solidFill>
            <a:srgbClr val="4CAF78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Antoine 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828800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Slides + Données seed + Documentation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2432304"/>
            <a:ext cx="274320" cy="274320"/>
          </a:xfrm>
          <a:prstGeom prst="ellipse">
            <a:avLst/>
          </a:prstGeom>
          <a:solidFill>
            <a:srgbClr val="4CAF78"/>
          </a:solidFill>
          <a:ln/>
        </p:spPr>
      </p:sp>
      <p:sp>
        <p:nvSpPr>
          <p:cNvPr id="18" name="Text 15"/>
          <p:cNvSpPr/>
          <p:nvPr/>
        </p:nvSpPr>
        <p:spPr>
          <a:xfrm>
            <a:off x="713232" y="24323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Rémi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828800" y="24323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Schémas archi + User stories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82296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822960"/>
            <a:ext cx="4206240" cy="475488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22" name="Text 19"/>
          <p:cNvSpPr/>
          <p:nvPr/>
        </p:nvSpPr>
        <p:spPr>
          <a:xfrm>
            <a:off x="4800600" y="8229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Organisation Agile</a:t>
            </a:r>
            <a:endParaRPr lang="en-US" sz="13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89888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074920" y="1389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Backlog produit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492240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User stories priorisées (MoSCoW)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737360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07492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Kanban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49224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Todo / In Progress / Done</a:t>
            </a:r>
            <a:endParaRPr lang="en-US" sz="11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084832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074920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Sprints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49224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Itérations courtes, revue hebdo</a:t>
            </a:r>
            <a:endParaRPr lang="en-US" sz="11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432304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074920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Git Flow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6492240" y="2432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84 commits, branches feature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274320" y="2971800"/>
            <a:ext cx="8595360" cy="164592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54680"/>
            <a:ext cx="502920" cy="5029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51560" y="29992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Dépôt GitHub public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1051560" y="34015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78"/>
                </a:solidFill>
              </a:rPr>
              <a:t>github.com/mlft9/projet-etude-2eme-annee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1051560" y="37216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D9B8"/>
                </a:solidFill>
              </a:rPr>
              <a:t>84 commits · JS 99.6% · Dockerfile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1" name="Text 33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4731"/>
                </a:solidFill>
              </a:rPr>
              <a:t>Livrables fournis : Prototype mobile · Schéma d'architecture · Code source Git · Documentation technique · Soutenance 15 min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Bilan &amp; Perspectives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206240" cy="502920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22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Ce qui a été réalisé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Application mobile React Native fonctionnelle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6479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Authentification JWT (connexion sécurisée)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1226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" y="2112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Diagnostic IA via Azure OpenAI GPT-4o Vision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459736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3232" y="2459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Carte interactive des parcelles (Leaflet)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807208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3232" y="2807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Tableau de bord utilisateur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154680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13232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Déploiement Docker + Azure Container Apps</a:t>
            </a:r>
            <a:endParaRPr lang="en-US" sz="11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502152"/>
            <a:ext cx="256032" cy="25603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13232" y="3502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Base de données PostgreSQL avec migrations</a:t>
            </a:r>
            <a:endParaRPr lang="en-US" sz="11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3849624"/>
            <a:ext cx="256032" cy="25603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13232" y="3849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Documentation technique complète</a:t>
            </a:r>
            <a:endParaRPr lang="en-US" sz="1100" dirty="0"/>
          </a:p>
        </p:txBody>
      </p:sp>
      <p:sp>
        <p:nvSpPr>
          <p:cNvPr id="23" name="Shape 13"/>
          <p:cNvSpPr/>
          <p:nvPr/>
        </p:nvSpPr>
        <p:spPr>
          <a:xfrm>
            <a:off x="4663440" y="822960"/>
            <a:ext cx="420624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4"/>
          <p:cNvSpPr/>
          <p:nvPr/>
        </p:nvSpPr>
        <p:spPr>
          <a:xfrm>
            <a:off x="4663440" y="822960"/>
            <a:ext cx="420624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15"/>
          <p:cNvSpPr/>
          <p:nvPr/>
        </p:nvSpPr>
        <p:spPr>
          <a:xfrm>
            <a:off x="4800600" y="822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🚀  Évolutions possibles</a:t>
            </a:r>
            <a:endParaRPr lang="en-US" sz="1400" dirty="0"/>
          </a:p>
        </p:txBody>
      </p:sp>
      <p:sp>
        <p:nvSpPr>
          <p:cNvPr id="26" name="Shape 16"/>
          <p:cNvSpPr/>
          <p:nvPr/>
        </p:nvSpPr>
        <p:spPr>
          <a:xfrm>
            <a:off x="4754880" y="1444752"/>
            <a:ext cx="4005072" cy="4572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7" name="Shape 17"/>
          <p:cNvSpPr/>
          <p:nvPr/>
        </p:nvSpPr>
        <p:spPr>
          <a:xfrm>
            <a:off x="4754880" y="1444752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18"/>
          <p:cNvSpPr/>
          <p:nvPr/>
        </p:nvSpPr>
        <p:spPr>
          <a:xfrm>
            <a:off x="4864608" y="1463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Capteurs IoT réels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4864608" y="16733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Intégration de données sol/météo temps réel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4754880" y="1993392"/>
            <a:ext cx="4005072" cy="4572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1" name="Shape 21"/>
          <p:cNvSpPr/>
          <p:nvPr/>
        </p:nvSpPr>
        <p:spPr>
          <a:xfrm>
            <a:off x="4754880" y="1993392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22"/>
          <p:cNvSpPr/>
          <p:nvPr/>
        </p:nvSpPr>
        <p:spPr>
          <a:xfrm>
            <a:off x="4864608" y="2011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Espace communautaire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4864608" y="2221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Forum entre agriculteurs, partage de diagnostics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4754880" y="2542032"/>
            <a:ext cx="4005072" cy="4572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5" name="Shape 25"/>
          <p:cNvSpPr/>
          <p:nvPr/>
        </p:nvSpPr>
        <p:spPr>
          <a:xfrm>
            <a:off x="4754880" y="2542032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26"/>
          <p:cNvSpPr/>
          <p:nvPr/>
        </p:nvSpPr>
        <p:spPr>
          <a:xfrm>
            <a:off x="4864608" y="2560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Back-office admin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4864608" y="2770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Gestion des modèles IA et des utilisateurs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4754880" y="3090672"/>
            <a:ext cx="4005072" cy="4572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9" name="Shape 29"/>
          <p:cNvSpPr/>
          <p:nvPr/>
        </p:nvSpPr>
        <p:spPr>
          <a:xfrm>
            <a:off x="4754880" y="3090672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0"/>
          <p:cNvSpPr/>
          <p:nvPr/>
        </p:nvSpPr>
        <p:spPr>
          <a:xfrm>
            <a:off x="4864608" y="3108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Fine-tuning du modèle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4864608" y="33192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Entraînement sur dataset agricole spécialisé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4754880" y="3639312"/>
            <a:ext cx="4005072" cy="4572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3" name="Shape 33"/>
          <p:cNvSpPr/>
          <p:nvPr/>
        </p:nvSpPr>
        <p:spPr>
          <a:xfrm>
            <a:off x="4754880" y="3639312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34"/>
          <p:cNvSpPr/>
          <p:nvPr/>
        </p:nvSpPr>
        <p:spPr>
          <a:xfrm>
            <a:off x="4864608" y="3657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Alertes push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4864608" y="38679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Notifications proactives selon les conditions météo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4754880" y="4187952"/>
            <a:ext cx="4005072" cy="4572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7" name="Shape 37"/>
          <p:cNvSpPr/>
          <p:nvPr/>
        </p:nvSpPr>
        <p:spPr>
          <a:xfrm>
            <a:off x="4754880" y="4187952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38"/>
          <p:cNvSpPr/>
          <p:nvPr/>
        </p:nvSpPr>
        <p:spPr>
          <a:xfrm>
            <a:off x="4864608" y="4206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Offline mode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4864608" y="4416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Diagnostic hors réseau avec modèle embarqué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CAF7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6858000" y="18288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Merci pour votre attention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65760" y="1417320"/>
            <a:ext cx="4572000" cy="45720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7D9B8"/>
                </a:solidFill>
              </a:rPr>
              <a:t>Parcell-IA — Diagnostic agricole par vision IA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65760" y="2148840"/>
            <a:ext cx="1920240" cy="1280160"/>
          </a:xfrm>
          <a:prstGeom prst="rect">
            <a:avLst/>
          </a:prstGeom>
          <a:solidFill>
            <a:srgbClr val="0D33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2148840"/>
            <a:ext cx="1920240" cy="45720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2240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78"/>
                </a:solidFill>
              </a:rPr>
              <a:t>5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65760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D9B8"/>
                </a:solidFill>
              </a:rPr>
              <a:t>Technologies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468880" y="2148840"/>
            <a:ext cx="1920240" cy="1280160"/>
          </a:xfrm>
          <a:prstGeom prst="rect">
            <a:avLst/>
          </a:prstGeom>
          <a:solidFill>
            <a:srgbClr val="0D33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2148840"/>
            <a:ext cx="1920240" cy="45720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13" name="Text 10"/>
          <p:cNvSpPr/>
          <p:nvPr/>
        </p:nvSpPr>
        <p:spPr>
          <a:xfrm>
            <a:off x="2468880" y="2240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78"/>
                </a:solidFill>
              </a:rPr>
              <a:t>84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2468880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D9B8"/>
                </a:solidFill>
              </a:rPr>
              <a:t>Commits Git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0" y="2148840"/>
            <a:ext cx="1920240" cy="1280160"/>
          </a:xfrm>
          <a:prstGeom prst="rect">
            <a:avLst/>
          </a:prstGeom>
          <a:solidFill>
            <a:srgbClr val="0D33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2148840"/>
            <a:ext cx="1920240" cy="45720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0" y="2240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78"/>
                </a:solidFill>
              </a:rPr>
              <a:t>6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4572000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D9B8"/>
                </a:solidFill>
              </a:rPr>
              <a:t>Endpoints API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675120" y="2148840"/>
            <a:ext cx="1920240" cy="1280160"/>
          </a:xfrm>
          <a:prstGeom prst="rect">
            <a:avLst/>
          </a:prstGeom>
          <a:solidFill>
            <a:srgbClr val="0D33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75120" y="2148840"/>
            <a:ext cx="1920240" cy="45720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0" y="2240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78"/>
                </a:solidFill>
              </a:rPr>
              <a:t>100%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6675120" y="2926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D9B8"/>
                </a:solidFill>
              </a:rPr>
              <a:t>Cloud Azure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6576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D9B8"/>
                </a:solidFill>
              </a:rPr>
              <a:t>Groupe : Maxime · Jean-Marc · Antoine L · Rémi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65760" y="4023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8F6F"/>
                </a:solidFill>
              </a:rPr>
              <a:t>Bachelor 2 — SupDeVinci  ·  Thématique IA &amp; Agriculture  ·  2025/2026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AF78"/>
                </a:solidFill>
              </a:rPr>
              <a:t>github.com/mlft9/projet-etude-2eme-annee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Parcell-IA — Projet B2 SupDeVinci</dc:title>
  <dc:subject>PptxGenJS Presentation</dc:subject>
  <dc:creator>PptxGenJS</dc:creator>
  <cp:lastModifiedBy>PptxGenJS</cp:lastModifiedBy>
  <cp:revision>1</cp:revision>
  <dcterms:created xsi:type="dcterms:W3CDTF">2026-04-29T11:58:13Z</dcterms:created>
  <dcterms:modified xsi:type="dcterms:W3CDTF">2026-04-29T11:58:13Z</dcterms:modified>
</cp:coreProperties>
</file>