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4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CAF7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tretch>
            <a:fillRect/>
          </a:stretch>
        </p:blipFill>
        <p:spPr>
          <a:xfrm>
            <a:off x="7132320" y="27432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65760" y="502920"/>
            <a:ext cx="2377440" cy="384048"/>
          </a:xfrm>
          <a:prstGeom prst="roundRect">
            <a:avLst>
              <a:gd name="adj" fmla="val 19048"/>
            </a:avLst>
          </a:prstGeom>
          <a:solidFill>
            <a:srgbClr val="4CAF78"/>
          </a:solidFill>
          <a:ln/>
        </p:spPr>
      </p:sp>
      <p:sp>
        <p:nvSpPr>
          <p:cNvPr id="5" name="Text 2"/>
          <p:cNvSpPr/>
          <p:nvPr/>
        </p:nvSpPr>
        <p:spPr>
          <a:xfrm>
            <a:off x="365760" y="5029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Bachelor 2 — SupDeVinci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65760" y="10058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</a:rPr>
              <a:t>Parcell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2788920" y="10058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4CAF78"/>
                </a:solidFill>
              </a:rPr>
              <a:t>-IA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365760" y="21488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7D9B8"/>
                </a:solidFill>
              </a:rPr>
              <a:t>Diagnostic agricole intelligent par vision IA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65760" y="2788920"/>
            <a:ext cx="4114800" cy="36576"/>
          </a:xfrm>
          <a:prstGeom prst="rect">
            <a:avLst/>
          </a:prstGeom>
          <a:solidFill>
            <a:srgbClr val="4CAF78"/>
          </a:solidFill>
          <a:ln/>
        </p:spPr>
      </p:sp>
      <p:sp>
        <p:nvSpPr>
          <p:cNvPr id="10" name="Text 7"/>
          <p:cNvSpPr/>
          <p:nvPr/>
        </p:nvSpPr>
        <p:spPr>
          <a:xfrm>
            <a:off x="365760" y="292608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D9B8"/>
                </a:solidFill>
              </a:rPr>
              <a:t>Maxime · Jean-Marc · Antoine L · Rémi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65760" y="347472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0D5C2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3872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7240" y="34747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AF78"/>
                </a:solidFill>
              </a:rPr>
              <a:t>IA &amp; Agriculture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772400" y="46634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8F6F"/>
                </a:solidFill>
              </a:rPr>
              <a:t>2025 /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Contexte &amp; Problématique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C7A4B"/>
                </a:solidFill>
              </a:rPr>
              <a:t>Comment l'IA peut-elle répondre aux enjeux agricoles contemporains 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417320"/>
            <a:ext cx="2743200" cy="3246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417320"/>
            <a:ext cx="2743200" cy="658368"/>
          </a:xfrm>
          <a:prstGeom prst="rect">
            <a:avLst/>
          </a:prstGeom>
          <a:solidFill>
            <a:srgbClr val="2C7A4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08760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14173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Le défi agricole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11480" y="21488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Les agriculteurs font face à des maladies des cultures difficiles à détecter tôt, entraînant des pertes importantes de rendement et une utilisation excessive de pesticides.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417320"/>
            <a:ext cx="2743200" cy="3246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46120" y="1417320"/>
            <a:ext cx="2743200" cy="658368"/>
          </a:xfrm>
          <a:prstGeom prst="rect">
            <a:avLst/>
          </a:prstGeom>
          <a:solidFill>
            <a:srgbClr val="2C7A4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08760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40480" y="14173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L'opportunité IA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383280" y="21488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La vision par ordinateur (GPT-4o Vision) permet d'analyser une simple photo de plante pour détecter maladies et parasites avec un niveau de précision élevé.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1417320"/>
            <a:ext cx="2743200" cy="3246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217920" y="1417320"/>
            <a:ext cx="2743200" cy="658368"/>
          </a:xfrm>
          <a:prstGeom prst="rect">
            <a:avLst/>
          </a:prstGeom>
          <a:solidFill>
            <a:srgbClr val="2C7A4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12280" y="1417320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 réponse mobile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355080" y="2148840"/>
            <a:ext cx="2468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Une application mobile accessible partout sur le terrain permet à chaque agriculteur d'obtenir un diagnostic instantané avec conseil agronomique adapté.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274320" y="48006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7280"/>
                </a:solidFill>
              </a:rPr>
              <a:t>Contexte : Chambre d'Agriculture — Projet B2 SupDeVinci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Notre Solution — Parcell-IA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023360" cy="4069080"/>
          </a:xfrm>
          <a:prstGeom prst="rect">
            <a:avLst/>
          </a:prstGeom>
          <a:solidFill>
            <a:srgbClr val="1A473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96012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9144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Application mobile 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diagnostic agricole par IA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1874520"/>
            <a:ext cx="3566160" cy="36576"/>
          </a:xfrm>
          <a:prstGeom prst="rect">
            <a:avLst/>
          </a:prstGeom>
          <a:solidFill>
            <a:srgbClr val="4CAF78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01168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D9B8"/>
                </a:solidFill>
              </a:rPr>
              <a:t>📸  Agriculteur prend en photo une plante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D9B8"/>
                </a:solidFill>
              </a:rPr>
              <a:t>🤖  GPT-4o Vision analyse l'image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296265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D9B8"/>
                </a:solidFill>
              </a:rPr>
              <a:t>🦠  Détection de la maladie identifiée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57200" y="3438144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D9B8"/>
                </a:solidFill>
              </a:rPr>
              <a:t>⚠️  Niveau de risque évalué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391363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D9B8"/>
                </a:solidFill>
              </a:rPr>
              <a:t>💡  Conseil agronomique personnalisé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26280" y="822960"/>
            <a:ext cx="21488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26280" y="822960"/>
            <a:ext cx="2148840" cy="548640"/>
          </a:xfrm>
          <a:prstGeom prst="rect">
            <a:avLst/>
          </a:prstGeom>
          <a:solidFill>
            <a:srgbClr val="2C7A4B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96112"/>
            <a:ext cx="365760" cy="36576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029200" y="822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Diagnostic IA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617720" y="144475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Photo → analyse GPT-4o Vision → maladie + risque + conseil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830568" y="822960"/>
            <a:ext cx="21488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830568" y="822960"/>
            <a:ext cx="2148840" cy="54864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08" y="896112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333488" y="82296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Carte des parcelles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922008" y="144475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Localisation géographique des parcelles avec carte Leaflet interactive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526280" y="2926080"/>
            <a:ext cx="21488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526280" y="2926080"/>
            <a:ext cx="2148840" cy="548640"/>
          </a:xfrm>
          <a:prstGeom prst="rect">
            <a:avLst/>
          </a:prstGeom>
          <a:solidFill>
            <a:srgbClr val="6A1B9A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999232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29200" y="2926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Tableau de bord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617720" y="354787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Vue synthétique des diagnostics, historique et alertes personnalisées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830568" y="2926080"/>
            <a:ext cx="21488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830568" y="2926080"/>
            <a:ext cx="2148840" cy="548640"/>
          </a:xfrm>
          <a:prstGeom prst="rect">
            <a:avLst/>
          </a:prstGeom>
          <a:solidFill>
            <a:srgbClr val="B71C1C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8" y="2999232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33488" y="29260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Auth sécurisée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922008" y="3547872"/>
            <a:ext cx="1965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Inscription / connexion JWT — accès protégé à toutes les routes API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Choix Technologiques &amp; Justification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73152" cy="713232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950976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8595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Mobile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152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5C0"/>
                </a:solidFill>
              </a:rPr>
              <a:t>React Native (Expo)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383280" y="89611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Cross-platform iOS/Android, hot-reload, accès caméra natif, grande communauté.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" y="1645920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74320" y="1645920"/>
            <a:ext cx="73152" cy="713232"/>
          </a:xfrm>
          <a:prstGeom prst="rect">
            <a:avLst/>
          </a:prstGeom>
          <a:solidFill>
            <a:srgbClr val="1B5E2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773936"/>
            <a:ext cx="420624" cy="4206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60120" y="16824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Backend / API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960120" y="197510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E20"/>
                </a:solidFill>
              </a:rPr>
              <a:t>Node.js + Express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383280" y="171907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Performance asynchrone, architecture modulaire MVC, middleware JWT, leger à déployer.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468880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274320" y="2468880"/>
            <a:ext cx="73152" cy="713232"/>
          </a:xfrm>
          <a:prstGeom prst="rect">
            <a:avLst/>
          </a:prstGeom>
          <a:solidFill>
            <a:srgbClr val="4A148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596896"/>
            <a:ext cx="420624" cy="4206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60120" y="250545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Base de données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960120" y="279806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148C"/>
                </a:solidFill>
              </a:rPr>
              <a:t>PostgreSQL 16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3383280" y="254203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SGBD relationnel robuste, support des géométries (PostGIS), compatible Azure.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274320" y="3291840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274320" y="3291840"/>
            <a:ext cx="73152" cy="713232"/>
          </a:xfrm>
          <a:prstGeom prst="rect">
            <a:avLst/>
          </a:prstGeom>
          <a:solidFill>
            <a:srgbClr val="0277BD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3419856"/>
            <a:ext cx="420624" cy="42062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60120" y="332841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Infrastructure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60120" y="362102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77BD"/>
                </a:solidFill>
              </a:rPr>
              <a:t>Docker + Azure Container Apps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3383280" y="33649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Containerisation reproductible, scalabilité automatique, CI/CD via GitHub Actions.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74320" y="4114800"/>
            <a:ext cx="859536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274320" y="4114800"/>
            <a:ext cx="73152" cy="713232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4242816"/>
            <a:ext cx="420624" cy="42062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60120" y="415137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IA / Vision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960120" y="444398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Azure OpenAI GPT-4o Vision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3383280" y="418795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Modèle multimodal state-of-the-art, API JSON structurée, fallback OpenAI direct + mock.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4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332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Architecture Technique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474720" y="822960"/>
            <a:ext cx="2194560" cy="1097280"/>
          </a:xfrm>
          <a:prstGeom prst="roundRect">
            <a:avLst>
              <a:gd name="adj" fmla="val 10000"/>
            </a:avLst>
          </a:prstGeom>
          <a:solidFill>
            <a:srgbClr val="143D2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474720" y="822960"/>
            <a:ext cx="2194560" cy="36576"/>
          </a:xfrm>
          <a:prstGeom prst="rect">
            <a:avLst/>
          </a:prstGeom>
          <a:solidFill>
            <a:srgbClr val="0277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9144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474720" y="1417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Docker / Azure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Container Apps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1920240"/>
            <a:ext cx="2194560" cy="1097280"/>
          </a:xfrm>
          <a:prstGeom prst="roundRect">
            <a:avLst>
              <a:gd name="adj" fmla="val 10000"/>
            </a:avLst>
          </a:prstGeom>
          <a:solidFill>
            <a:srgbClr val="143D2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74320" y="1920240"/>
            <a:ext cx="2194560" cy="36576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1168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743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App Mobile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(React Native)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474720" y="1920240"/>
            <a:ext cx="2194560" cy="1097280"/>
          </a:xfrm>
          <a:prstGeom prst="roundRect">
            <a:avLst>
              <a:gd name="adj" fmla="val 10000"/>
            </a:avLst>
          </a:prstGeom>
          <a:solidFill>
            <a:srgbClr val="143D2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74720" y="1920240"/>
            <a:ext cx="2194560" cy="36576"/>
          </a:xfrm>
          <a:prstGeom prst="rect">
            <a:avLst/>
          </a:prstGeom>
          <a:solidFill>
            <a:srgbClr val="2C7A4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0116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747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Backend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(Node.js)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675120" y="1920240"/>
            <a:ext cx="2194560" cy="1097280"/>
          </a:xfrm>
          <a:prstGeom prst="roundRect">
            <a:avLst>
              <a:gd name="adj" fmla="val 10000"/>
            </a:avLst>
          </a:prstGeom>
          <a:solidFill>
            <a:srgbClr val="143D2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675120" y="1920240"/>
            <a:ext cx="2194560" cy="36576"/>
          </a:xfrm>
          <a:prstGeom prst="rect">
            <a:avLst/>
          </a:prstGeom>
          <a:solidFill>
            <a:srgbClr val="E65100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201168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675120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Azure OpenAI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GPT-4o Vision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474720" y="3200400"/>
            <a:ext cx="2194560" cy="1097280"/>
          </a:xfrm>
          <a:prstGeom prst="roundRect">
            <a:avLst>
              <a:gd name="adj" fmla="val 10000"/>
            </a:avLst>
          </a:prstGeom>
          <a:solidFill>
            <a:srgbClr val="143D25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3474720" y="3200400"/>
            <a:ext cx="2194560" cy="36576"/>
          </a:xfrm>
          <a:prstGeom prst="rect">
            <a:avLst/>
          </a:prstGeom>
          <a:solidFill>
            <a:srgbClr val="4A148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91840"/>
            <a:ext cx="502920" cy="5029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474720" y="37947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PostgreSQL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(Azure DB)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572000" y="1920240"/>
            <a:ext cx="0" cy="0"/>
          </a:xfrm>
          <a:prstGeom prst="line">
            <a:avLst/>
          </a:prstGeom>
          <a:noFill/>
          <a:ln w="19050">
            <a:solidFill>
              <a:srgbClr val="4CAF78"/>
            </a:solidFill>
            <a:prstDash val="sysDash"/>
          </a:ln>
        </p:spPr>
      </p:sp>
      <p:sp>
        <p:nvSpPr>
          <p:cNvPr id="25" name="Shape 18"/>
          <p:cNvSpPr/>
          <p:nvPr/>
        </p:nvSpPr>
        <p:spPr>
          <a:xfrm>
            <a:off x="4572000" y="1901952"/>
            <a:ext cx="0" cy="36576"/>
          </a:xfrm>
          <a:prstGeom prst="line">
            <a:avLst/>
          </a:prstGeom>
          <a:noFill/>
          <a:ln w="25400">
            <a:solidFill>
              <a:srgbClr val="4CAF7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2468880" y="2441448"/>
            <a:ext cx="1005840" cy="0"/>
          </a:xfrm>
          <a:prstGeom prst="line">
            <a:avLst/>
          </a:prstGeom>
          <a:noFill/>
          <a:ln w="25400">
            <a:solidFill>
              <a:srgbClr val="4CAF78"/>
            </a:solidFill>
            <a:prstDash val="sysDash"/>
          </a:ln>
        </p:spPr>
      </p:sp>
      <p:sp>
        <p:nvSpPr>
          <p:cNvPr id="27" name="Text 20"/>
          <p:cNvSpPr/>
          <p:nvPr/>
        </p:nvSpPr>
        <p:spPr>
          <a:xfrm>
            <a:off x="2468880" y="22585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CAF78"/>
                </a:solidFill>
              </a:rPr>
              <a:t>HTTPS/JWT</a:t>
            </a:r>
            <a:endParaRPr lang="en-US" sz="900" dirty="0"/>
          </a:p>
        </p:txBody>
      </p:sp>
      <p:sp>
        <p:nvSpPr>
          <p:cNvPr id="28" name="Shape 21"/>
          <p:cNvSpPr/>
          <p:nvPr/>
        </p:nvSpPr>
        <p:spPr>
          <a:xfrm>
            <a:off x="5669280" y="2441448"/>
            <a:ext cx="1005840" cy="0"/>
          </a:xfrm>
          <a:prstGeom prst="line">
            <a:avLst/>
          </a:prstGeom>
          <a:noFill/>
          <a:ln w="25400">
            <a:solidFill>
              <a:srgbClr val="4CAF78"/>
            </a:solidFill>
            <a:prstDash val="sysDash"/>
          </a:ln>
        </p:spPr>
      </p:sp>
      <p:sp>
        <p:nvSpPr>
          <p:cNvPr id="29" name="Text 22"/>
          <p:cNvSpPr/>
          <p:nvPr/>
        </p:nvSpPr>
        <p:spPr>
          <a:xfrm>
            <a:off x="5669280" y="22585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CAF78"/>
                </a:solidFill>
              </a:rPr>
              <a:t>REST API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4572000" y="2999232"/>
            <a:ext cx="0" cy="201168"/>
          </a:xfrm>
          <a:prstGeom prst="line">
            <a:avLst/>
          </a:prstGeom>
          <a:noFill/>
          <a:ln w="25400">
            <a:solidFill>
              <a:srgbClr val="4CAF78"/>
            </a:solidFill>
            <a:prstDash val="sysDash"/>
          </a:ln>
        </p:spPr>
      </p:sp>
      <p:sp>
        <p:nvSpPr>
          <p:cNvPr id="31" name="Text 24"/>
          <p:cNvSpPr/>
          <p:nvPr/>
        </p:nvSpPr>
        <p:spPr>
          <a:xfrm>
            <a:off x="4645152" y="30358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CAF78"/>
                </a:solidFill>
              </a:rPr>
              <a:t>SQL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228600" y="4663440"/>
            <a:ext cx="8686800" cy="347472"/>
          </a:xfrm>
          <a:prstGeom prst="rect">
            <a:avLst/>
          </a:prstGeom>
          <a:solidFill>
            <a:srgbClr val="0D3320"/>
          </a:solidFill>
          <a:ln/>
        </p:spPr>
      </p:sp>
      <p:sp>
        <p:nvSpPr>
          <p:cNvPr id="33" name="Text 26"/>
          <p:cNvSpPr/>
          <p:nvPr/>
        </p:nvSpPr>
        <p:spPr>
          <a:xfrm>
            <a:off x="320040" y="46634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7D9B8"/>
                </a:solidFill>
              </a:rPr>
              <a:t>JWT auth sur toutes les routes  ·  Fallback IA : OpenAI direct → mock  ·  SSL activé sur Azure PostgreSQL  ·  46 commits — dépôt public GitHub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Démonstration Technique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206240" cy="50292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229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Endpoints API (Node.js + Express)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84048" y="1453896"/>
            <a:ext cx="685800" cy="329184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14538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15568" y="145389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/auth/login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145389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Connexion utilisateur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4048" y="1929384"/>
            <a:ext cx="685800" cy="329184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" y="192938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15568" y="192938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/auth/register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43200" y="192938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Inscription utilisateur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4048" y="2404872"/>
            <a:ext cx="685800" cy="329184"/>
          </a:xfrm>
          <a:prstGeom prst="roundRect">
            <a:avLst>
              <a:gd name="adj" fmla="val 13889"/>
            </a:avLst>
          </a:prstGeom>
          <a:solidFill>
            <a:srgbClr val="10B981"/>
          </a:solidFill>
          <a:ln/>
        </p:spPr>
      </p:sp>
      <p:sp>
        <p:nvSpPr>
          <p:cNvPr id="16" name="Text 14"/>
          <p:cNvSpPr/>
          <p:nvPr/>
        </p:nvSpPr>
        <p:spPr>
          <a:xfrm>
            <a:off x="384048" y="240487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15568" y="24048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/parcelles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743200" y="24048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Liste des parcelles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4048" y="2880360"/>
            <a:ext cx="685800" cy="329184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" y="28803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15568" y="28803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/parcelles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0" y="28803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Créer une parcelle + géométrie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4048" y="3355848"/>
            <a:ext cx="685800" cy="329184"/>
          </a:xfrm>
          <a:prstGeom prst="roundRect">
            <a:avLst>
              <a:gd name="adj" fmla="val 13889"/>
            </a:avLst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335584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15568" y="33558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/diagnostics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743200" y="33558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Historique des diagnostics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4048" y="3831336"/>
            <a:ext cx="685800" cy="329184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384048" y="38313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POST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" y="383133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/diagnostics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0" y="383133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Lancer diagnostic IA (image_base64)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84048" y="4306824"/>
            <a:ext cx="685800" cy="329184"/>
          </a:xfrm>
          <a:prstGeom prst="roundRect">
            <a:avLst>
              <a:gd name="adj" fmla="val 13889"/>
            </a:avLst>
          </a:prstGeom>
          <a:solidFill>
            <a:srgbClr val="6B7280"/>
          </a:solidFill>
          <a:ln/>
        </p:spPr>
      </p:sp>
      <p:sp>
        <p:nvSpPr>
          <p:cNvPr id="32" name="Text 30"/>
          <p:cNvSpPr/>
          <p:nvPr/>
        </p:nvSpPr>
        <p:spPr>
          <a:xfrm>
            <a:off x="384048" y="43068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GET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15568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/health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43200" y="4306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Santé du serveur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822960"/>
            <a:ext cx="4206240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822960"/>
            <a:ext cx="4206240" cy="502920"/>
          </a:xfrm>
          <a:prstGeom prst="rect">
            <a:avLst/>
          </a:prstGeom>
          <a:solidFill>
            <a:srgbClr val="2C7A4B"/>
          </a:solidFill>
          <a:ln/>
        </p:spPr>
      </p:sp>
      <p:sp>
        <p:nvSpPr>
          <p:cNvPr id="37" name="Text 35"/>
          <p:cNvSpPr/>
          <p:nvPr/>
        </p:nvSpPr>
        <p:spPr>
          <a:xfrm>
            <a:off x="4754880" y="8229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Flux Diagnostic IA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754880" y="1499616"/>
            <a:ext cx="329184" cy="329184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39" name="Text 37"/>
          <p:cNvSpPr/>
          <p:nvPr/>
        </p:nvSpPr>
        <p:spPr>
          <a:xfrm>
            <a:off x="4754880" y="1499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166360" y="14813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L'app encode la photo en base64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910328" y="1828800"/>
            <a:ext cx="0" cy="164592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54880" y="2048256"/>
            <a:ext cx="329184" cy="329184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0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166360" y="20299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POST /diagnostics avec image + parcelle_id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0328" y="2377440"/>
            <a:ext cx="0" cy="164592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54880" y="2596896"/>
            <a:ext cx="329184" cy="329184"/>
          </a:xfrm>
          <a:prstGeom prst="ellipse">
            <a:avLst/>
          </a:prstGeom>
          <a:solidFill>
            <a:srgbClr val="4A148C"/>
          </a:solidFill>
          <a:ln/>
        </p:spPr>
      </p:sp>
      <p:sp>
        <p:nvSpPr>
          <p:cNvPr id="47" name="Text 45"/>
          <p:cNvSpPr/>
          <p:nvPr/>
        </p:nvSpPr>
        <p:spPr>
          <a:xfrm>
            <a:off x="4754880" y="2596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166360" y="2578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Backend valide le JWT, crée le diagnostic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910328" y="2926080"/>
            <a:ext cx="0" cy="164592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54880" y="3145536"/>
            <a:ext cx="329184" cy="329184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51" name="Text 49"/>
          <p:cNvSpPr/>
          <p:nvPr/>
        </p:nvSpPr>
        <p:spPr>
          <a:xfrm>
            <a:off x="4754880" y="3145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166360" y="31272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Azure OpenAI GPT-4o Vision analyse l'image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910328" y="3474720"/>
            <a:ext cx="0" cy="164592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54880" y="3694176"/>
            <a:ext cx="329184" cy="329184"/>
          </a:xfrm>
          <a:prstGeom prst="ellipse">
            <a:avLst/>
          </a:prstGeom>
          <a:solidFill>
            <a:srgbClr val="B71C1C"/>
          </a:solidFill>
          <a:ln/>
        </p:spPr>
      </p:sp>
      <p:sp>
        <p:nvSpPr>
          <p:cNvPr id="55" name="Text 53"/>
          <p:cNvSpPr/>
          <p:nvPr/>
        </p:nvSpPr>
        <p:spPr>
          <a:xfrm>
            <a:off x="4754880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5166360" y="367588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Réponse JSON: maladie + risque + conseil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910328" y="4023360"/>
            <a:ext cx="0" cy="164592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54880" y="4242816"/>
            <a:ext cx="329184" cy="329184"/>
          </a:xfrm>
          <a:prstGeom prst="ellipse">
            <a:avLst/>
          </a:prstGeom>
          <a:solidFill>
            <a:srgbClr val="006064"/>
          </a:solidFill>
          <a:ln/>
        </p:spPr>
      </p:sp>
      <p:sp>
        <p:nvSpPr>
          <p:cNvPr id="59" name="Text 57"/>
          <p:cNvSpPr/>
          <p:nvPr/>
        </p:nvSpPr>
        <p:spPr>
          <a:xfrm>
            <a:off x="4754880" y="4242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66360" y="42245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</a:rPr>
              <a:t>Résultat sauvegardé en BDD et affiché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Déploiement Cloud &amp; Infrastructure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5120640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5120640" cy="502920"/>
          </a:xfrm>
          <a:prstGeom prst="rect">
            <a:avLst/>
          </a:prstGeom>
          <a:solidFill>
            <a:srgbClr val="0277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822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Docker Compose — Profils de déploiement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463040"/>
            <a:ext cx="4754880" cy="54864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6"/>
          <p:cNvSpPr/>
          <p:nvPr/>
        </p:nvSpPr>
        <p:spPr>
          <a:xfrm>
            <a:off x="457200" y="1463040"/>
            <a:ext cx="64008" cy="54864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4813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--profile local-db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" y="1737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Backend + PostgreSQL local (dev)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148840"/>
            <a:ext cx="4754880" cy="54864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57200" y="2148840"/>
            <a:ext cx="64008" cy="548640"/>
          </a:xfrm>
          <a:prstGeom prst="rect">
            <a:avLst/>
          </a:prstGeom>
          <a:solidFill>
            <a:srgbClr val="0277BD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2167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77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94360" y="2423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Backend seul + Azure PostgreSQL via DATABASE_URL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834640"/>
            <a:ext cx="4754880" cy="54864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7" name="Shape 14"/>
          <p:cNvSpPr/>
          <p:nvPr/>
        </p:nvSpPr>
        <p:spPr>
          <a:xfrm>
            <a:off x="457200" y="2834640"/>
            <a:ext cx="64008" cy="54864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8" name="Text 15"/>
          <p:cNvSpPr/>
          <p:nvPr/>
        </p:nvSpPr>
        <p:spPr>
          <a:xfrm>
            <a:off x="594360" y="28529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--profile mobile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94360" y="3108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App Expo en mode web (port 8081)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57200" y="36118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4731"/>
                </a:solidFill>
              </a:rPr>
              <a:t>Variables d'environnement requises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977640"/>
            <a:ext cx="201168" cy="20116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713232" y="3931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DATABASE_URL  — Azure PostgreSQL</a:t>
            </a:r>
            <a:endParaRPr lang="en-US" sz="10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86784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713232" y="3931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AZURE_OPENAI_KEY  — Clé Azure OpenAI</a:t>
            </a:r>
            <a:endParaRPr lang="en-US" sz="10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95928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13232" y="3931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JWT_SECRET  — Signature tokens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05072"/>
            <a:ext cx="201168" cy="20116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3232" y="3931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OPENAI_API_KEY  — Fallback OpenAI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457200" y="397764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4731"/>
                </a:solidFill>
              </a:rPr>
              <a:t>DATABASE_URL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4731"/>
                </a:solidFill>
              </a:rPr>
              <a:t>AZURE_OPENAI_KEY + AZURE_OPENAI_ENDPOINT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4731"/>
                </a:solidFill>
              </a:rPr>
              <a:t>JWT_SECRET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4731"/>
                </a:solidFill>
              </a:rPr>
              <a:t>OPENAI_API_KEY  (fallback)</a:t>
            </a:r>
            <a:endParaRPr lang="en-US" sz="1000" dirty="0"/>
          </a:p>
        </p:txBody>
      </p:sp>
      <p:sp>
        <p:nvSpPr>
          <p:cNvPr id="30" name="Text 23"/>
          <p:cNvSpPr/>
          <p:nvPr/>
        </p:nvSpPr>
        <p:spPr>
          <a:xfrm>
            <a:off x="2743200" y="39776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URL PostgreSQL Azure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Clé Azure OpenAI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Signature JWT tokens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Clé OpenAI directe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5577840" y="822960"/>
            <a:ext cx="3291840" cy="4069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5577840" y="822960"/>
            <a:ext cx="3291840" cy="502920"/>
          </a:xfrm>
          <a:prstGeom prst="rect">
            <a:avLst/>
          </a:prstGeom>
          <a:solidFill>
            <a:srgbClr val="01579B"/>
          </a:solidFill>
          <a:ln/>
        </p:spPr>
      </p:sp>
      <p:sp>
        <p:nvSpPr>
          <p:cNvPr id="33" name="Text 26"/>
          <p:cNvSpPr/>
          <p:nvPr/>
        </p:nvSpPr>
        <p:spPr>
          <a:xfrm>
            <a:off x="5669280" y="8229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Azure Stack</a:t>
            </a:r>
            <a:endParaRPr lang="en-US" sz="1300" dirty="0"/>
          </a:p>
        </p:txBody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1508760"/>
            <a:ext cx="347472" cy="347472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080760" y="1463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579B"/>
                </a:solidFill>
              </a:rPr>
              <a:t>Container Apps</a:t>
            </a:r>
            <a:endParaRPr lang="en-US" sz="1300" dirty="0"/>
          </a:p>
        </p:txBody>
      </p:sp>
      <p:sp>
        <p:nvSpPr>
          <p:cNvPr id="36" name="Text 28"/>
          <p:cNvSpPr/>
          <p:nvPr/>
        </p:nvSpPr>
        <p:spPr>
          <a:xfrm>
            <a:off x="6080760" y="17556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Hébergement du backend Node.js</a:t>
            </a:r>
            <a:endParaRPr lang="en-US" sz="110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2331720"/>
            <a:ext cx="347472" cy="34747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08076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579B"/>
                </a:solidFill>
              </a:rPr>
              <a:t>Azure PostgreSQL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6080760" y="25786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Base de données cloud sécurisée (SSL)</a:t>
            </a:r>
            <a:endParaRPr lang="en-US" sz="1100" dirty="0"/>
          </a:p>
        </p:txBody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3154680"/>
            <a:ext cx="347472" cy="347472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608076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579B"/>
                </a:solidFill>
              </a:rPr>
              <a:t>Azure OpenAI</a:t>
            </a:r>
            <a:endParaRPr lang="en-US" sz="1300" dirty="0"/>
          </a:p>
        </p:txBody>
      </p:sp>
      <p:sp>
        <p:nvSpPr>
          <p:cNvPr id="42" name="Text 32"/>
          <p:cNvSpPr/>
          <p:nvPr/>
        </p:nvSpPr>
        <p:spPr>
          <a:xfrm>
            <a:off x="6080760" y="34015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GPT-4o Vision déployé en instance dédiée</a:t>
            </a:r>
            <a:endParaRPr lang="en-US" sz="1100" dirty="0"/>
          </a:p>
        </p:txBody>
      </p:sp>
      <p:pic>
        <p:nvPicPr>
          <p:cNvPr id="4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3977640"/>
            <a:ext cx="347472" cy="347472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080760" y="3931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1579B"/>
                </a:solidFill>
              </a:rPr>
              <a:t>Azure VPN / SSL</a:t>
            </a:r>
            <a:endParaRPr lang="en-US" sz="1300" dirty="0"/>
          </a:p>
        </p:txBody>
      </p:sp>
      <p:sp>
        <p:nvSpPr>
          <p:cNvPr id="45" name="Text 34"/>
          <p:cNvSpPr/>
          <p:nvPr/>
        </p:nvSpPr>
        <p:spPr>
          <a:xfrm>
            <a:off x="6080760" y="42245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Accès sécurisé + certificats TLS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Gestion de Projet &amp; Organisation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206240" cy="475488"/>
          </a:xfrm>
          <a:prstGeom prst="rect">
            <a:avLst/>
          </a:prstGeom>
          <a:solidFill>
            <a:srgbClr val="1A473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49808" y="8229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Répartition des rôles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65760" y="1389888"/>
            <a:ext cx="274320" cy="274320"/>
          </a:xfrm>
          <a:prstGeom prst="ellipse">
            <a:avLst/>
          </a:prstGeom>
          <a:solidFill>
            <a:srgbClr val="4CAF78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389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4731"/>
                </a:solidFill>
              </a:rPr>
              <a:t>Maxime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828800" y="13898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Lead Dev Backend + Architecture cloud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1737360"/>
            <a:ext cx="274320" cy="274320"/>
          </a:xfrm>
          <a:prstGeom prst="ellipse">
            <a:avLst/>
          </a:prstGeom>
          <a:solidFill>
            <a:srgbClr val="4CAF78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4731"/>
                </a:solidFill>
              </a:rPr>
              <a:t>Jean-Marc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828800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Développeur Mobile (React Native)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" y="2084832"/>
            <a:ext cx="274320" cy="274320"/>
          </a:xfrm>
          <a:prstGeom prst="ellipse">
            <a:avLst/>
          </a:prstGeom>
          <a:solidFill>
            <a:srgbClr val="4CAF78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20848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4731"/>
                </a:solidFill>
              </a:rPr>
              <a:t>Antoine 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828800" y="2084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Intégration IA + Base de données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65760" y="2432304"/>
            <a:ext cx="274320" cy="274320"/>
          </a:xfrm>
          <a:prstGeom prst="ellipse">
            <a:avLst/>
          </a:prstGeom>
          <a:solidFill>
            <a:srgbClr val="4CAF78"/>
          </a:solidFill>
          <a:ln/>
        </p:spPr>
      </p:sp>
      <p:sp>
        <p:nvSpPr>
          <p:cNvPr id="18" name="Text 15"/>
          <p:cNvSpPr/>
          <p:nvPr/>
        </p:nvSpPr>
        <p:spPr>
          <a:xfrm>
            <a:off x="713232" y="24323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4731"/>
                </a:solidFill>
              </a:rPr>
              <a:t>Rémi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828800" y="24323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DevOps / Docker + Documentation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663440" y="822960"/>
            <a:ext cx="420624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663440" y="822960"/>
            <a:ext cx="4206240" cy="475488"/>
          </a:xfrm>
          <a:prstGeom prst="rect">
            <a:avLst/>
          </a:prstGeom>
          <a:solidFill>
            <a:srgbClr val="2C7A4B"/>
          </a:solidFill>
          <a:ln/>
        </p:spPr>
      </p:sp>
      <p:sp>
        <p:nvSpPr>
          <p:cNvPr id="22" name="Text 19"/>
          <p:cNvSpPr/>
          <p:nvPr/>
        </p:nvSpPr>
        <p:spPr>
          <a:xfrm>
            <a:off x="4800600" y="82296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Organisation Agile</a:t>
            </a:r>
            <a:endParaRPr lang="en-US" sz="13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89888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074920" y="1389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</a:rPr>
              <a:t>Backlog produit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492240" y="1389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User stories priorisées (MoSCoW)</a:t>
            </a:r>
            <a:endParaRPr lang="en-US" sz="11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37360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5074920" y="1737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</a:rPr>
              <a:t>Kanban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6492240" y="17373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Todo / In Progress / Done</a:t>
            </a:r>
            <a:endParaRPr lang="en-US" sz="11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084832"/>
            <a:ext cx="256032" cy="25603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5074920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</a:rPr>
              <a:t>Sprints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6492240" y="2084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Itérations courtes, revue hebdo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432304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074920" y="24323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</a:rPr>
              <a:t>Git Flow</a:t>
            </a:r>
            <a:endParaRPr lang="en-US" sz="1200" dirty="0"/>
          </a:p>
        </p:txBody>
      </p:sp>
      <p:sp>
        <p:nvSpPr>
          <p:cNvPr id="34" name="Text 27"/>
          <p:cNvSpPr/>
          <p:nvPr/>
        </p:nvSpPr>
        <p:spPr>
          <a:xfrm>
            <a:off x="6492240" y="24323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46 commits, branches feature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274320" y="2971800"/>
            <a:ext cx="8595360" cy="1645920"/>
          </a:xfrm>
          <a:prstGeom prst="rect">
            <a:avLst/>
          </a:prstGeom>
          <a:solidFill>
            <a:srgbClr val="1A4731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54680"/>
            <a:ext cx="502920" cy="5029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51560" y="29992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Dépôt GitHub public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1051560" y="3401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AF78"/>
                </a:solidFill>
              </a:rPr>
              <a:t>github.com/mlft9/projet-etude-2eme-annee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1051560" y="372160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7D9B8"/>
                </a:solidFill>
              </a:rPr>
              <a:t>46 commits · 1 fork · JS 99.6% · Dockerfile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274320" y="4709160"/>
            <a:ext cx="8595360" cy="2560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41" name="Text 33"/>
          <p:cNvSpPr/>
          <p:nvPr/>
        </p:nvSpPr>
        <p:spPr>
          <a:xfrm>
            <a:off x="365760" y="470916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4731"/>
                </a:solidFill>
              </a:rPr>
              <a:t>Livrables fournis : Prototype mobile · Schéma d'architecture · Code source Git · Documentation technique · Soutenance 15 min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473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Bilan &amp; Perspectives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206240" cy="502920"/>
          </a:xfrm>
          <a:prstGeom prst="rect">
            <a:avLst/>
          </a:prstGeom>
          <a:solidFill>
            <a:srgbClr val="2C7A4B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8229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 Ce qui a été réalisé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141732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13232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Application mobile React Native fonctionnelle</a:t>
            </a:r>
            <a:endParaRPr lang="en-US" sz="11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76479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" y="1764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Authentification JWT complète (login + register)</a:t>
            </a:r>
            <a:endParaRPr lang="en-US" sz="11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11226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13232" y="21122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Diagnostic IA via Azure OpenAI GPT-4o Vision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59736"/>
            <a:ext cx="256032" cy="25603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3232" y="24597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Carte interactive des parcelles (Leaflet)</a:t>
            </a:r>
            <a:endParaRPr lang="en-US" sz="11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807208"/>
            <a:ext cx="256032" cy="25603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713232" y="2807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Tableau de bord utilisateur</a:t>
            </a:r>
            <a:endParaRPr lang="en-US" sz="11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154680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713232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Déploiement Docker + Azure Container Apps</a:t>
            </a:r>
            <a:endParaRPr lang="en-US" sz="11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3502152"/>
            <a:ext cx="256032" cy="25603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713232" y="3502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Base de données PostgreSQL avec migrations</a:t>
            </a:r>
            <a:endParaRPr lang="en-US" sz="11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3849624"/>
            <a:ext cx="256032" cy="256032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713232" y="38496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</a:rPr>
              <a:t>Documentation technique complète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4663440" y="822960"/>
            <a:ext cx="4206240" cy="4069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4"/>
          <p:cNvSpPr/>
          <p:nvPr/>
        </p:nvSpPr>
        <p:spPr>
          <a:xfrm>
            <a:off x="4663440" y="822960"/>
            <a:ext cx="4206240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15"/>
          <p:cNvSpPr/>
          <p:nvPr/>
        </p:nvSpPr>
        <p:spPr>
          <a:xfrm>
            <a:off x="4800600" y="8229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4151"/>
                </a:solidFill>
              </a:rPr>
              <a:t>🚀  Évolutions possibles</a:t>
            </a:r>
            <a:endParaRPr lang="en-US" sz="1400" dirty="0"/>
          </a:p>
        </p:txBody>
      </p:sp>
      <p:sp>
        <p:nvSpPr>
          <p:cNvPr id="26" name="Shape 16"/>
          <p:cNvSpPr/>
          <p:nvPr/>
        </p:nvSpPr>
        <p:spPr>
          <a:xfrm>
            <a:off x="4754880" y="1444752"/>
            <a:ext cx="4005072" cy="4572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27" name="Shape 17"/>
          <p:cNvSpPr/>
          <p:nvPr/>
        </p:nvSpPr>
        <p:spPr>
          <a:xfrm>
            <a:off x="4754880" y="1444752"/>
            <a:ext cx="54864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18"/>
          <p:cNvSpPr/>
          <p:nvPr/>
        </p:nvSpPr>
        <p:spPr>
          <a:xfrm>
            <a:off x="4864608" y="14630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Capteurs IoT réels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4864608" y="167335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Intégration de données sol/météo temps réel</a:t>
            </a:r>
            <a:endParaRPr lang="en-US" sz="1000" dirty="0"/>
          </a:p>
        </p:txBody>
      </p:sp>
      <p:sp>
        <p:nvSpPr>
          <p:cNvPr id="30" name="Shape 20"/>
          <p:cNvSpPr/>
          <p:nvPr/>
        </p:nvSpPr>
        <p:spPr>
          <a:xfrm>
            <a:off x="4754880" y="1993392"/>
            <a:ext cx="4005072" cy="4572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31" name="Shape 21"/>
          <p:cNvSpPr/>
          <p:nvPr/>
        </p:nvSpPr>
        <p:spPr>
          <a:xfrm>
            <a:off x="4754880" y="1993392"/>
            <a:ext cx="54864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Text 22"/>
          <p:cNvSpPr/>
          <p:nvPr/>
        </p:nvSpPr>
        <p:spPr>
          <a:xfrm>
            <a:off x="4864608" y="20116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Espace communautaire</a:t>
            </a:r>
            <a:endParaRPr lang="en-US" sz="1200" dirty="0"/>
          </a:p>
        </p:txBody>
      </p:sp>
      <p:sp>
        <p:nvSpPr>
          <p:cNvPr id="33" name="Text 23"/>
          <p:cNvSpPr/>
          <p:nvPr/>
        </p:nvSpPr>
        <p:spPr>
          <a:xfrm>
            <a:off x="4864608" y="22219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Forum entre agriculteurs, partage de diagnostics</a:t>
            </a:r>
            <a:endParaRPr lang="en-US" sz="1000" dirty="0"/>
          </a:p>
        </p:txBody>
      </p:sp>
      <p:sp>
        <p:nvSpPr>
          <p:cNvPr id="34" name="Shape 24"/>
          <p:cNvSpPr/>
          <p:nvPr/>
        </p:nvSpPr>
        <p:spPr>
          <a:xfrm>
            <a:off x="4754880" y="2542032"/>
            <a:ext cx="4005072" cy="4572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35" name="Shape 25"/>
          <p:cNvSpPr/>
          <p:nvPr/>
        </p:nvSpPr>
        <p:spPr>
          <a:xfrm>
            <a:off x="4754880" y="2542032"/>
            <a:ext cx="54864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6" name="Text 26"/>
          <p:cNvSpPr/>
          <p:nvPr/>
        </p:nvSpPr>
        <p:spPr>
          <a:xfrm>
            <a:off x="486460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Back-office admin</a:t>
            </a:r>
            <a:endParaRPr lang="en-US" sz="1200" dirty="0"/>
          </a:p>
        </p:txBody>
      </p:sp>
      <p:sp>
        <p:nvSpPr>
          <p:cNvPr id="37" name="Text 27"/>
          <p:cNvSpPr/>
          <p:nvPr/>
        </p:nvSpPr>
        <p:spPr>
          <a:xfrm>
            <a:off x="4864608" y="27706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Gestion des modèles IA et des utilisateurs</a:t>
            </a:r>
            <a:endParaRPr lang="en-US" sz="1000" dirty="0"/>
          </a:p>
        </p:txBody>
      </p:sp>
      <p:sp>
        <p:nvSpPr>
          <p:cNvPr id="38" name="Shape 28"/>
          <p:cNvSpPr/>
          <p:nvPr/>
        </p:nvSpPr>
        <p:spPr>
          <a:xfrm>
            <a:off x="4754880" y="3090672"/>
            <a:ext cx="4005072" cy="4572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39" name="Shape 29"/>
          <p:cNvSpPr/>
          <p:nvPr/>
        </p:nvSpPr>
        <p:spPr>
          <a:xfrm>
            <a:off x="4754880" y="3090672"/>
            <a:ext cx="54864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0"/>
          <p:cNvSpPr/>
          <p:nvPr/>
        </p:nvSpPr>
        <p:spPr>
          <a:xfrm>
            <a:off x="4864608" y="310896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Fine-tuning du modèle</a:t>
            </a:r>
            <a:endParaRPr lang="en-US" sz="1200" dirty="0"/>
          </a:p>
        </p:txBody>
      </p:sp>
      <p:sp>
        <p:nvSpPr>
          <p:cNvPr id="41" name="Text 31"/>
          <p:cNvSpPr/>
          <p:nvPr/>
        </p:nvSpPr>
        <p:spPr>
          <a:xfrm>
            <a:off x="4864608" y="33192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Entraînement sur dataset agricole spécialisé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4754880" y="3639312"/>
            <a:ext cx="4005072" cy="4572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3" name="Shape 33"/>
          <p:cNvSpPr/>
          <p:nvPr/>
        </p:nvSpPr>
        <p:spPr>
          <a:xfrm>
            <a:off x="4754880" y="3639312"/>
            <a:ext cx="54864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4"/>
          <p:cNvSpPr/>
          <p:nvPr/>
        </p:nvSpPr>
        <p:spPr>
          <a:xfrm>
            <a:off x="4864608" y="36576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Alertes push</a:t>
            </a:r>
            <a:endParaRPr lang="en-US" sz="1200" dirty="0"/>
          </a:p>
        </p:txBody>
      </p:sp>
      <p:sp>
        <p:nvSpPr>
          <p:cNvPr id="45" name="Text 35"/>
          <p:cNvSpPr/>
          <p:nvPr/>
        </p:nvSpPr>
        <p:spPr>
          <a:xfrm>
            <a:off x="4864608" y="386791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Notifications proactives selon les conditions météo</a:t>
            </a:r>
            <a:endParaRPr lang="en-US" sz="1000" dirty="0"/>
          </a:p>
        </p:txBody>
      </p:sp>
      <p:sp>
        <p:nvSpPr>
          <p:cNvPr id="46" name="Shape 36"/>
          <p:cNvSpPr/>
          <p:nvPr/>
        </p:nvSpPr>
        <p:spPr>
          <a:xfrm>
            <a:off x="4754880" y="4187952"/>
            <a:ext cx="4005072" cy="45720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47" name="Shape 37"/>
          <p:cNvSpPr/>
          <p:nvPr/>
        </p:nvSpPr>
        <p:spPr>
          <a:xfrm>
            <a:off x="4754880" y="4187952"/>
            <a:ext cx="54864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38"/>
          <p:cNvSpPr/>
          <p:nvPr/>
        </p:nvSpPr>
        <p:spPr>
          <a:xfrm>
            <a:off x="4864608" y="42062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4151"/>
                </a:solidFill>
              </a:rPr>
              <a:t>Offline mode</a:t>
            </a:r>
            <a:endParaRPr lang="en-US" sz="1200" dirty="0"/>
          </a:p>
        </p:txBody>
      </p:sp>
      <p:sp>
        <p:nvSpPr>
          <p:cNvPr id="49" name="Text 39"/>
          <p:cNvSpPr/>
          <p:nvPr/>
        </p:nvSpPr>
        <p:spPr>
          <a:xfrm>
            <a:off x="4864608" y="441655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Diagnostic hors réseau avec modèle embarqué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4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CAF7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tretch>
            <a:fillRect/>
          </a:stretch>
        </p:blipFill>
        <p:spPr>
          <a:xfrm>
            <a:off x="6858000" y="182880"/>
            <a:ext cx="2103120" cy="2103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Merci pour votre attention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365760" y="1417320"/>
            <a:ext cx="4572000" cy="45720"/>
          </a:xfrm>
          <a:prstGeom prst="rect">
            <a:avLst/>
          </a:prstGeom>
          <a:solidFill>
            <a:srgbClr val="4CAF78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A7D9B8"/>
                </a:solidFill>
              </a:rPr>
              <a:t>Parcell-IA — Diagnostic agricole par vision IA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65760" y="2148840"/>
            <a:ext cx="1920240" cy="1280160"/>
          </a:xfrm>
          <a:prstGeom prst="rect">
            <a:avLst/>
          </a:prstGeom>
          <a:solidFill>
            <a:srgbClr val="0D33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2148840"/>
            <a:ext cx="1920240" cy="45720"/>
          </a:xfrm>
          <a:prstGeom prst="rect">
            <a:avLst/>
          </a:prstGeom>
          <a:solidFill>
            <a:srgbClr val="4CAF78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78"/>
                </a:solidFill>
              </a:rPr>
              <a:t>5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365760" y="2926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D9B8"/>
                </a:solidFill>
              </a:rPr>
              <a:t>Technologies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468880" y="2148840"/>
            <a:ext cx="1920240" cy="1280160"/>
          </a:xfrm>
          <a:prstGeom prst="rect">
            <a:avLst/>
          </a:prstGeom>
          <a:solidFill>
            <a:srgbClr val="0D33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68880" y="2148840"/>
            <a:ext cx="1920240" cy="45720"/>
          </a:xfrm>
          <a:prstGeom prst="rect">
            <a:avLst/>
          </a:prstGeom>
          <a:solidFill>
            <a:srgbClr val="4CAF78"/>
          </a:solidFill>
          <a:ln/>
        </p:spPr>
      </p:sp>
      <p:sp>
        <p:nvSpPr>
          <p:cNvPr id="13" name="Text 10"/>
          <p:cNvSpPr/>
          <p:nvPr/>
        </p:nvSpPr>
        <p:spPr>
          <a:xfrm>
            <a:off x="24688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78"/>
                </a:solidFill>
              </a:rPr>
              <a:t>46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2468880" y="2926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D9B8"/>
                </a:solidFill>
              </a:rPr>
              <a:t>Commits Git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572000" y="2148840"/>
            <a:ext cx="1920240" cy="1280160"/>
          </a:xfrm>
          <a:prstGeom prst="rect">
            <a:avLst/>
          </a:prstGeom>
          <a:solidFill>
            <a:srgbClr val="0D33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0" y="2148840"/>
            <a:ext cx="1920240" cy="45720"/>
          </a:xfrm>
          <a:prstGeom prst="rect">
            <a:avLst/>
          </a:prstGeom>
          <a:solidFill>
            <a:srgbClr val="4CAF78"/>
          </a:solidFill>
          <a:ln/>
        </p:spPr>
      </p:sp>
      <p:sp>
        <p:nvSpPr>
          <p:cNvPr id="17" name="Text 14"/>
          <p:cNvSpPr/>
          <p:nvPr/>
        </p:nvSpPr>
        <p:spPr>
          <a:xfrm>
            <a:off x="45720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78"/>
                </a:solidFill>
              </a:rPr>
              <a:t>6</a:t>
            </a:r>
            <a:endParaRPr lang="en-US" sz="4000" dirty="0"/>
          </a:p>
        </p:txBody>
      </p:sp>
      <p:sp>
        <p:nvSpPr>
          <p:cNvPr id="18" name="Text 15"/>
          <p:cNvSpPr/>
          <p:nvPr/>
        </p:nvSpPr>
        <p:spPr>
          <a:xfrm>
            <a:off x="4572000" y="2926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D9B8"/>
                </a:solidFill>
              </a:rPr>
              <a:t>Endpoints API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675120" y="2148840"/>
            <a:ext cx="1920240" cy="1280160"/>
          </a:xfrm>
          <a:prstGeom prst="rect">
            <a:avLst/>
          </a:prstGeom>
          <a:solidFill>
            <a:srgbClr val="0D332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675120" y="2148840"/>
            <a:ext cx="1920240" cy="45720"/>
          </a:xfrm>
          <a:prstGeom prst="rect">
            <a:avLst/>
          </a:prstGeom>
          <a:solidFill>
            <a:srgbClr val="4CAF78"/>
          </a:solidFill>
          <a:ln/>
        </p:spPr>
      </p:sp>
      <p:sp>
        <p:nvSpPr>
          <p:cNvPr id="21" name="Text 18"/>
          <p:cNvSpPr/>
          <p:nvPr/>
        </p:nvSpPr>
        <p:spPr>
          <a:xfrm>
            <a:off x="66751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CAF78"/>
                </a:solidFill>
              </a:rPr>
              <a:t>100%</a:t>
            </a:r>
            <a:endParaRPr lang="en-US" sz="4000" dirty="0"/>
          </a:p>
        </p:txBody>
      </p:sp>
      <p:sp>
        <p:nvSpPr>
          <p:cNvPr id="22" name="Text 19"/>
          <p:cNvSpPr/>
          <p:nvPr/>
        </p:nvSpPr>
        <p:spPr>
          <a:xfrm>
            <a:off x="6675120" y="2926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7D9B8"/>
                </a:solidFill>
              </a:rPr>
              <a:t>Cloud Azure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36576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7D9B8"/>
                </a:solidFill>
              </a:rPr>
              <a:t>Groupe : Maxime · Jean-Marc · Antoine L · Rémi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65760" y="40233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F6F"/>
                </a:solidFill>
              </a:rPr>
              <a:t>Bachelor 2 — SupDeVinci  ·  Thématique IA &amp; Agriculture  ·  2025/2026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AF78"/>
                </a:solidFill>
              </a:rPr>
              <a:t>github.com/mlft9/projet-etude-2eme-annee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Parcell-IA — Projet B2 SupDeVinci</dc:title>
  <dc:subject>PptxGenJS Presentation</dc:subject>
  <dc:creator>PptxGenJS</dc:creator>
  <cp:lastModifiedBy>PptxGenJS</cp:lastModifiedBy>
  <cp:revision>1</cp:revision>
  <dcterms:created xsi:type="dcterms:W3CDTF">2026-04-29T11:58:13Z</dcterms:created>
  <dcterms:modified xsi:type="dcterms:W3CDTF">2026-04-29T11:58:13Z</dcterms:modified>
</cp:coreProperties>
</file>